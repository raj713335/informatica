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57" r:id="rId3"/>
    <p:sldId id="258" r:id="rId4"/>
    <p:sldId id="271" r:id="rId5"/>
    <p:sldId id="259" r:id="rId6"/>
    <p:sldId id="272" r:id="rId7"/>
    <p:sldId id="268" r:id="rId8"/>
    <p:sldId id="274" r:id="rId9"/>
    <p:sldId id="278" r:id="rId10"/>
    <p:sldId id="277" r:id="rId11"/>
    <p:sldId id="263" r:id="rId12"/>
    <p:sldId id="279" r:id="rId13"/>
    <p:sldId id="273" r:id="rId14"/>
    <p:sldId id="266" r:id="rId15"/>
    <p:sldId id="275" r:id="rId16"/>
    <p:sldId id="276" r:id="rId17"/>
    <p:sldId id="264" r:id="rId18"/>
    <p:sldId id="280" r:id="rId19"/>
    <p:sldId id="265"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84" y="132"/>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b322c2236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b322c2236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b32f4d17b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b32f4d17b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b32f4d17b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b32f4d17b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341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b32f4d17b7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b32f4d17b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b32f4d17b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b32f4d17b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2817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b32f4d17b7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b32f4d17b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0326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686df820c1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686df820c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3865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686df820c1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686df820c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2823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686df820c1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686df820c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214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686df820c1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686df820c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686df820c1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686df820c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8482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b322c2236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b322c2236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b322c2236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b322c2236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7978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686df820c1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686df820c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3410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686df820c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686df820c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59057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686df820c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686df820c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686df820c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686df820c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48938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b322c2236b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b322c2236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image" Target="../media/image33.png"/><Relationship Id="rId4" Type="http://schemas.openxmlformats.org/officeDocument/2006/relationships/image" Target="../media/image32.jpe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4003" cy="5183679"/>
          </a:xfrm>
          <a:prstGeom prst="rect">
            <a:avLst/>
          </a:prstGeom>
          <a:noFill/>
          <a:ln>
            <a:noFill/>
          </a:ln>
        </p:spPr>
      </p:pic>
      <p:sp>
        <p:nvSpPr>
          <p:cNvPr id="55" name="Google Shape;55;p13"/>
          <p:cNvSpPr txBox="1"/>
          <p:nvPr/>
        </p:nvSpPr>
        <p:spPr>
          <a:xfrm>
            <a:off x="167500" y="2902175"/>
            <a:ext cx="7143900" cy="204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solidFill>
                  <a:schemeClr val="dk2"/>
                </a:solidFill>
              </a:rPr>
              <a:t>Team Name: base234</a:t>
            </a:r>
            <a:endParaRPr sz="1800" dirty="0">
              <a:solidFill>
                <a:schemeClr val="dk2"/>
              </a:solidFill>
            </a:endParaRPr>
          </a:p>
          <a:p>
            <a:pPr marL="0" lvl="0" indent="0" algn="l" rtl="0">
              <a:spcBef>
                <a:spcPts val="0"/>
              </a:spcBef>
              <a:spcAft>
                <a:spcPts val="0"/>
              </a:spcAft>
              <a:buNone/>
            </a:pPr>
            <a:r>
              <a:rPr lang="en-GB" sz="1800" dirty="0">
                <a:solidFill>
                  <a:schemeClr val="dk2"/>
                </a:solidFill>
              </a:rPr>
              <a:t>Team Size: 4</a:t>
            </a:r>
            <a:endParaRPr sz="1800" dirty="0">
              <a:solidFill>
                <a:schemeClr val="dk2"/>
              </a:solidFill>
            </a:endParaRPr>
          </a:p>
          <a:p>
            <a:pPr marL="0" lvl="0" indent="0" algn="l" rtl="0">
              <a:spcBef>
                <a:spcPts val="0"/>
              </a:spcBef>
              <a:spcAft>
                <a:spcPts val="0"/>
              </a:spcAft>
              <a:buNone/>
            </a:pPr>
            <a:r>
              <a:rPr lang="de-DE" sz="1800" dirty="0">
                <a:solidFill>
                  <a:schemeClr val="dk2"/>
                </a:solidFill>
              </a:rPr>
              <a:t>Team Member Names: Arnab Das, Sayan Sinha, Jayita Bhattacharyya, Debankita Dutta</a:t>
            </a: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GB" sz="1800" dirty="0">
                <a:solidFill>
                  <a:schemeClr val="dk2"/>
                </a:solidFill>
              </a:rPr>
              <a:t>Problem Statement: AI/ML and Data Science</a:t>
            </a:r>
            <a:endParaRPr sz="1800" dirty="0">
              <a:solidFill>
                <a:schemeClr val="dk2"/>
              </a:solidFill>
            </a:endParaRPr>
          </a:p>
          <a:p>
            <a:pPr marL="0" lvl="0" indent="0" algn="l" rtl="0">
              <a:spcBef>
                <a:spcPts val="0"/>
              </a:spcBef>
              <a:spcAft>
                <a:spcPts val="0"/>
              </a:spcAft>
              <a:buNone/>
            </a:pPr>
            <a:r>
              <a:rPr lang="en-GB" sz="1800" dirty="0">
                <a:solidFill>
                  <a:schemeClr val="dk2"/>
                </a:solidFill>
              </a:rPr>
              <a:t>Problem Statement Theme: Healthcare Diagnosis</a:t>
            </a:r>
            <a:endParaRPr sz="180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sp>
        <p:nvSpPr>
          <p:cNvPr id="61" name="Google Shape;61;p14"/>
          <p:cNvSpPr txBox="1"/>
          <p:nvPr/>
        </p:nvSpPr>
        <p:spPr>
          <a:xfrm>
            <a:off x="167500" y="729150"/>
            <a:ext cx="81882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rPr>
              <a:t>Idea Brief</a:t>
            </a:r>
            <a:endParaRPr sz="1800">
              <a:solidFill>
                <a:schemeClr val="dk2"/>
              </a:solidFill>
            </a:endParaRPr>
          </a:p>
        </p:txBody>
      </p:sp>
      <p:sp>
        <p:nvSpPr>
          <p:cNvPr id="4" name="Google Shape;63;p14">
            <a:extLst>
              <a:ext uri="{FF2B5EF4-FFF2-40B4-BE49-F238E27FC236}">
                <a16:creationId xmlns:a16="http://schemas.microsoft.com/office/drawing/2014/main" id="{E3024FDB-4381-02C8-D494-45C70DF4136A}"/>
              </a:ext>
            </a:extLst>
          </p:cNvPr>
          <p:cNvSpPr txBox="1"/>
          <p:nvPr/>
        </p:nvSpPr>
        <p:spPr>
          <a:xfrm>
            <a:off x="167500" y="1192350"/>
            <a:ext cx="8681300" cy="5539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b="1" i="0" dirty="0">
                <a:solidFill>
                  <a:srgbClr val="1F2328"/>
                </a:solidFill>
                <a:effectLst/>
                <a:highlight>
                  <a:srgbClr val="FFFFFF"/>
                </a:highlight>
                <a:latin typeface="-apple-system"/>
              </a:rPr>
              <a:t>Hitaya</a:t>
            </a:r>
            <a:r>
              <a:rPr lang="en-US" sz="1200" b="0" i="0" dirty="0">
                <a:solidFill>
                  <a:srgbClr val="1F2328"/>
                </a:solidFill>
                <a:effectLst/>
                <a:highlight>
                  <a:srgbClr val="FFFFFF"/>
                </a:highlight>
                <a:latin typeface="-apple-system"/>
              </a:rPr>
              <a:t> is a one-stop solution, a medical diagnosis App that can allow users to upload medical data or x-ray scans, and the APP will predict whether a patient has any disease or not.</a:t>
            </a:r>
            <a:endParaRPr sz="1200" dirty="0">
              <a:solidFill>
                <a:schemeClr val="dk2"/>
              </a:solidFill>
            </a:endParaRPr>
          </a:p>
        </p:txBody>
      </p:sp>
      <p:sp>
        <p:nvSpPr>
          <p:cNvPr id="6" name="Google Shape;65;p14">
            <a:extLst>
              <a:ext uri="{FF2B5EF4-FFF2-40B4-BE49-F238E27FC236}">
                <a16:creationId xmlns:a16="http://schemas.microsoft.com/office/drawing/2014/main" id="{709C40F7-BFC6-ED1C-AA23-AA68702ED2CD}"/>
              </a:ext>
            </a:extLst>
          </p:cNvPr>
          <p:cNvSpPr txBox="1"/>
          <p:nvPr/>
        </p:nvSpPr>
        <p:spPr>
          <a:xfrm>
            <a:off x="177696" y="1904482"/>
            <a:ext cx="5005510" cy="3093124"/>
          </a:xfrm>
          <a:prstGeom prst="rect">
            <a:avLst/>
          </a:prstGeom>
          <a:noFill/>
          <a:ln>
            <a:noFill/>
          </a:ln>
        </p:spPr>
        <p:txBody>
          <a:bodyPr spcFirstLastPara="1" wrap="square" lIns="91425" tIns="91425" rIns="91425" bIns="91425" anchor="t" anchorCtr="0">
            <a:spAutoFit/>
          </a:bodyPr>
          <a:lstStyle/>
          <a:p>
            <a:pPr algn="l"/>
            <a:r>
              <a:rPr lang="en-US" sz="1100" b="0" i="0" dirty="0">
                <a:solidFill>
                  <a:srgbClr val="1F2328"/>
                </a:solidFill>
                <a:effectLst/>
                <a:highlight>
                  <a:srgbClr val="FFFFFF"/>
                </a:highlight>
                <a:latin typeface="-apple-system"/>
              </a:rPr>
              <a:t>Machine Learning has been revolutionizing on healthcare domain. ML models can now detect patterns underlying diseases. In this way, AI techniques can be considered as the second pair of eyes for doctors, that can decode patient health knowledge extracted from large data sets by summing up facts &amp; observations of diseases.</a:t>
            </a:r>
          </a:p>
          <a:p>
            <a:pPr algn="l"/>
            <a:endParaRPr lang="en-US" sz="1200" b="0" i="0" dirty="0">
              <a:solidFill>
                <a:srgbClr val="1F2328"/>
              </a:solidFill>
              <a:effectLst/>
              <a:highlight>
                <a:srgbClr val="FFFFFF"/>
              </a:highlight>
              <a:latin typeface="-apple-system"/>
            </a:endParaRPr>
          </a:p>
          <a:p>
            <a:pPr algn="l"/>
            <a:r>
              <a:rPr lang="en-US" sz="1200" b="1" i="0" dirty="0">
                <a:solidFill>
                  <a:srgbClr val="1F2328"/>
                </a:solidFill>
                <a:effectLst/>
                <a:highlight>
                  <a:srgbClr val="FFFFFF"/>
                </a:highlight>
                <a:latin typeface="-apple-system"/>
              </a:rPr>
              <a:t>Features</a:t>
            </a:r>
          </a:p>
          <a:p>
            <a:pPr algn="l"/>
            <a:endParaRPr lang="en-US" sz="1200" b="1" i="0" dirty="0">
              <a:solidFill>
                <a:srgbClr val="1F2328"/>
              </a:solidFill>
              <a:effectLst/>
              <a:highlight>
                <a:srgbClr val="FFFFFF"/>
              </a:highlight>
              <a:latin typeface="-apple-system"/>
            </a:endParaRPr>
          </a:p>
          <a:p>
            <a:pPr marL="171450" indent="-171450" algn="l">
              <a:buFont typeface="Arial" panose="020B0604020202020204" pitchFamily="34" charset="0"/>
              <a:buChar char="•"/>
            </a:pPr>
            <a:r>
              <a:rPr lang="en-US" sz="1050" b="0" i="0" dirty="0">
                <a:solidFill>
                  <a:srgbClr val="1F2328"/>
                </a:solidFill>
                <a:effectLst/>
                <a:highlight>
                  <a:srgbClr val="FFFFFF"/>
                </a:highlight>
                <a:latin typeface="-apple-system"/>
              </a:rPr>
              <a:t>Creating an AI/ML preliminary diagnosis application.</a:t>
            </a:r>
          </a:p>
          <a:p>
            <a:pPr marL="171450" indent="-171450" algn="l">
              <a:buFont typeface="Arial" panose="020B0604020202020204" pitchFamily="34" charset="0"/>
              <a:buChar char="•"/>
            </a:pPr>
            <a:r>
              <a:rPr lang="en-US" sz="1050" b="0" i="0" dirty="0">
                <a:solidFill>
                  <a:srgbClr val="1F2328"/>
                </a:solidFill>
                <a:effectLst/>
                <a:highlight>
                  <a:srgbClr val="FFFFFF"/>
                </a:highlight>
                <a:latin typeface="-apple-system"/>
              </a:rPr>
              <a:t>Users/Doctors can input images of x-ray scans/ medical data/ or just images and our Application will give them the diagnosis results.</a:t>
            </a:r>
          </a:p>
          <a:p>
            <a:pPr marL="171450" indent="-171450" algn="l">
              <a:buFont typeface="Arial" panose="020B0604020202020204" pitchFamily="34" charset="0"/>
              <a:buChar char="•"/>
            </a:pPr>
            <a:r>
              <a:rPr lang="en-US" sz="1050" b="0" i="0" dirty="0">
                <a:solidFill>
                  <a:srgbClr val="1F2328"/>
                </a:solidFill>
                <a:effectLst/>
                <a:highlight>
                  <a:srgbClr val="FFFFFF"/>
                </a:highlight>
                <a:latin typeface="-apple-system"/>
              </a:rPr>
              <a:t>Using Generative AI to give user health Recommendations or Provide Diet Plans.</a:t>
            </a:r>
          </a:p>
          <a:p>
            <a:pPr marL="171450" indent="-171450" algn="l">
              <a:buFont typeface="Arial" panose="020B0604020202020204" pitchFamily="34" charset="0"/>
              <a:buChar char="•"/>
            </a:pPr>
            <a:r>
              <a:rPr lang="en-US" sz="1050" b="0" i="0" dirty="0">
                <a:solidFill>
                  <a:srgbClr val="1F2328"/>
                </a:solidFill>
                <a:effectLst/>
                <a:highlight>
                  <a:srgbClr val="FFFFFF"/>
                </a:highlight>
                <a:latin typeface="-apple-system"/>
              </a:rPr>
              <a:t>Diagnostic System to predict the risk of a disease based on user data.</a:t>
            </a:r>
          </a:p>
          <a:p>
            <a:pPr marL="171450" indent="-171450" algn="l">
              <a:buFont typeface="Arial" panose="020B0604020202020204" pitchFamily="34" charset="0"/>
              <a:buChar char="•"/>
            </a:pPr>
            <a:r>
              <a:rPr lang="en-US" sz="1050" b="0" i="0" dirty="0">
                <a:solidFill>
                  <a:srgbClr val="1F2328"/>
                </a:solidFill>
                <a:effectLst/>
                <a:highlight>
                  <a:srgbClr val="FFFFFF"/>
                </a:highlight>
                <a:latin typeface="-apple-system"/>
              </a:rPr>
              <a:t>Using Informatica create an ML pipeline that will re-train ML models from new data and upload the models using Model Serve for our UI to consume.</a:t>
            </a:r>
          </a:p>
          <a:p>
            <a:pPr algn="l">
              <a:buFont typeface="Arial" panose="020B0604020202020204" pitchFamily="34" charset="0"/>
              <a:buChar char="•"/>
            </a:pPr>
            <a:endParaRPr lang="en-US" sz="1050" b="0" i="0" dirty="0">
              <a:solidFill>
                <a:srgbClr val="1F2328"/>
              </a:solidFill>
              <a:effectLst/>
              <a:highlight>
                <a:srgbClr val="FFFFFF"/>
              </a:highlight>
              <a:latin typeface="-apple-system"/>
            </a:endParaRPr>
          </a:p>
          <a:p>
            <a:pPr algn="l"/>
            <a:endParaRPr lang="en-US" b="0" i="0" dirty="0">
              <a:solidFill>
                <a:srgbClr val="1F2328"/>
              </a:solidFill>
              <a:effectLst/>
              <a:highlight>
                <a:srgbClr val="FFFFFF"/>
              </a:highlight>
              <a:latin typeface="-apple-system"/>
            </a:endParaRPr>
          </a:p>
        </p:txBody>
      </p:sp>
      <p:sp>
        <p:nvSpPr>
          <p:cNvPr id="2" name="AutoShape 2">
            <a:extLst>
              <a:ext uri="{FF2B5EF4-FFF2-40B4-BE49-F238E27FC236}">
                <a16:creationId xmlns:a16="http://schemas.microsoft.com/office/drawing/2014/main" id="{251DC607-BE35-20F0-5400-43F37D0C9B7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a:extLst>
              <a:ext uri="{FF2B5EF4-FFF2-40B4-BE49-F238E27FC236}">
                <a16:creationId xmlns:a16="http://schemas.microsoft.com/office/drawing/2014/main" id="{B405C7DB-A15D-2788-1ADF-59EFDE0B2D79}"/>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0" name="Picture 6">
            <a:extLst>
              <a:ext uri="{FF2B5EF4-FFF2-40B4-BE49-F238E27FC236}">
                <a16:creationId xmlns:a16="http://schemas.microsoft.com/office/drawing/2014/main" id="{D1E38EC9-AE3E-F1BE-9AB9-2257FE5A01C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882" t="7783" r="13308" b="3261"/>
          <a:stretch/>
        </p:blipFill>
        <p:spPr bwMode="auto">
          <a:xfrm>
            <a:off x="5029200" y="2004675"/>
            <a:ext cx="3937104" cy="24588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sp>
        <p:nvSpPr>
          <p:cNvPr id="67" name="Google Shape;67;p15"/>
          <p:cNvSpPr txBox="1"/>
          <p:nvPr/>
        </p:nvSpPr>
        <p:spPr>
          <a:xfrm>
            <a:off x="197075" y="748850"/>
            <a:ext cx="8552700" cy="44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68" name="Google Shape;68;p15"/>
          <p:cNvSpPr txBox="1"/>
          <p:nvPr/>
        </p:nvSpPr>
        <p:spPr>
          <a:xfrm>
            <a:off x="167500" y="729150"/>
            <a:ext cx="81882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solidFill>
                  <a:schemeClr val="dk2"/>
                </a:solidFill>
              </a:rPr>
              <a:t>Tech Stack</a:t>
            </a:r>
            <a:endParaRPr sz="1800" dirty="0">
              <a:solidFill>
                <a:schemeClr val="dk2"/>
              </a:solidFill>
            </a:endParaRPr>
          </a:p>
        </p:txBody>
      </p:sp>
      <p:sp>
        <p:nvSpPr>
          <p:cNvPr id="2" name="Google Shape;89;p17">
            <a:extLst>
              <a:ext uri="{FF2B5EF4-FFF2-40B4-BE49-F238E27FC236}">
                <a16:creationId xmlns:a16="http://schemas.microsoft.com/office/drawing/2014/main" id="{0655A2D0-C0CA-9C78-40EA-BF45632CBFDC}"/>
              </a:ext>
            </a:extLst>
          </p:cNvPr>
          <p:cNvSpPr txBox="1"/>
          <p:nvPr/>
        </p:nvSpPr>
        <p:spPr>
          <a:xfrm>
            <a:off x="299225" y="1344325"/>
            <a:ext cx="8397900" cy="2446793"/>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AutoNum type="arabicPeriod"/>
            </a:pPr>
            <a:r>
              <a:rPr lang="en-GB" dirty="0"/>
              <a:t>Flask</a:t>
            </a:r>
            <a:endParaRPr dirty="0"/>
          </a:p>
          <a:p>
            <a:pPr marL="457200" lvl="0" indent="-317500" algn="l" rtl="0">
              <a:lnSpc>
                <a:spcPct val="150000"/>
              </a:lnSpc>
              <a:spcBef>
                <a:spcPts val="0"/>
              </a:spcBef>
              <a:spcAft>
                <a:spcPts val="0"/>
              </a:spcAft>
              <a:buSzPts val="1400"/>
              <a:buAutoNum type="arabicPeriod"/>
            </a:pPr>
            <a:r>
              <a:rPr lang="en-GB" dirty="0"/>
              <a:t>React</a:t>
            </a:r>
          </a:p>
          <a:p>
            <a:pPr marL="457200" lvl="0" indent="-317500" algn="l" rtl="0">
              <a:lnSpc>
                <a:spcPct val="150000"/>
              </a:lnSpc>
              <a:spcBef>
                <a:spcPts val="0"/>
              </a:spcBef>
              <a:spcAft>
                <a:spcPts val="0"/>
              </a:spcAft>
              <a:buSzPts val="1400"/>
              <a:buAutoNum type="arabicPeriod"/>
            </a:pPr>
            <a:r>
              <a:rPr lang="en-GB" dirty="0"/>
              <a:t>Informatica</a:t>
            </a:r>
          </a:p>
          <a:p>
            <a:pPr marL="457200" lvl="0" indent="-317500" algn="l" rtl="0">
              <a:lnSpc>
                <a:spcPct val="150000"/>
              </a:lnSpc>
              <a:spcBef>
                <a:spcPts val="0"/>
              </a:spcBef>
              <a:spcAft>
                <a:spcPts val="0"/>
              </a:spcAft>
              <a:buSzPts val="1400"/>
              <a:buAutoNum type="arabicPeriod"/>
            </a:pPr>
            <a:r>
              <a:rPr lang="en-GB" dirty="0"/>
              <a:t>Snowflake</a:t>
            </a:r>
            <a:endParaRPr dirty="0"/>
          </a:p>
          <a:p>
            <a:pPr marL="457200" lvl="0" indent="-317500" algn="l" rtl="0">
              <a:lnSpc>
                <a:spcPct val="150000"/>
              </a:lnSpc>
              <a:spcBef>
                <a:spcPts val="0"/>
              </a:spcBef>
              <a:spcAft>
                <a:spcPts val="0"/>
              </a:spcAft>
              <a:buSzPts val="1400"/>
              <a:buAutoNum type="arabicPeriod"/>
            </a:pPr>
            <a:r>
              <a:rPr lang="en-GB" dirty="0"/>
              <a:t>Machine Learning (</a:t>
            </a:r>
            <a:r>
              <a:rPr lang="en-GB" dirty="0" err="1"/>
              <a:t>Pytorch</a:t>
            </a:r>
            <a:r>
              <a:rPr lang="en-GB" dirty="0"/>
              <a:t>, scikit-learn, </a:t>
            </a:r>
            <a:r>
              <a:rPr lang="en-GB" dirty="0" err="1"/>
              <a:t>Tensorflow</a:t>
            </a:r>
            <a:r>
              <a:rPr lang="en-GB" dirty="0"/>
              <a:t>)</a:t>
            </a:r>
            <a:endParaRPr dirty="0"/>
          </a:p>
          <a:p>
            <a:pPr marL="457200" lvl="0" indent="-317500" algn="l" rtl="0">
              <a:lnSpc>
                <a:spcPct val="150000"/>
              </a:lnSpc>
              <a:spcBef>
                <a:spcPts val="0"/>
              </a:spcBef>
              <a:spcAft>
                <a:spcPts val="0"/>
              </a:spcAft>
              <a:buSzPts val="1400"/>
              <a:buAutoNum type="arabicPeriod"/>
            </a:pPr>
            <a:r>
              <a:rPr lang="en-GB" dirty="0"/>
              <a:t>Node.js</a:t>
            </a:r>
          </a:p>
          <a:p>
            <a:pPr marL="457200" lvl="0" indent="-317500" algn="l" rtl="0">
              <a:lnSpc>
                <a:spcPct val="150000"/>
              </a:lnSpc>
              <a:spcBef>
                <a:spcPts val="0"/>
              </a:spcBef>
              <a:spcAft>
                <a:spcPts val="0"/>
              </a:spcAft>
              <a:buSzPts val="1400"/>
              <a:buAutoNum type="arabicPeriod"/>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sp>
        <p:nvSpPr>
          <p:cNvPr id="67" name="Google Shape;67;p15"/>
          <p:cNvSpPr txBox="1"/>
          <p:nvPr/>
        </p:nvSpPr>
        <p:spPr>
          <a:xfrm>
            <a:off x="197075" y="748850"/>
            <a:ext cx="8552700" cy="44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68" name="Google Shape;68;p15"/>
          <p:cNvSpPr txBox="1"/>
          <p:nvPr/>
        </p:nvSpPr>
        <p:spPr>
          <a:xfrm>
            <a:off x="67400" y="564026"/>
            <a:ext cx="81882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solidFill>
                  <a:schemeClr val="dk2"/>
                </a:solidFill>
              </a:rPr>
              <a:t>Project Architecture</a:t>
            </a:r>
            <a:endParaRPr sz="1800" dirty="0">
              <a:solidFill>
                <a:schemeClr val="dk2"/>
              </a:solidFill>
            </a:endParaRPr>
          </a:p>
        </p:txBody>
      </p:sp>
      <p:pic>
        <p:nvPicPr>
          <p:cNvPr id="4" name="Picture 3">
            <a:extLst>
              <a:ext uri="{FF2B5EF4-FFF2-40B4-BE49-F238E27FC236}">
                <a16:creationId xmlns:a16="http://schemas.microsoft.com/office/drawing/2014/main" id="{DF320D22-0B90-4207-C224-3E7A991B2B8B}"/>
              </a:ext>
            </a:extLst>
          </p:cNvPr>
          <p:cNvPicPr>
            <a:picLocks noChangeAspect="1"/>
          </p:cNvPicPr>
          <p:nvPr/>
        </p:nvPicPr>
        <p:blipFill>
          <a:blip r:embed="rId4"/>
          <a:stretch>
            <a:fillRect/>
          </a:stretch>
        </p:blipFill>
        <p:spPr>
          <a:xfrm>
            <a:off x="295650" y="997209"/>
            <a:ext cx="8454125" cy="4013137"/>
          </a:xfrm>
          <a:prstGeom prst="rect">
            <a:avLst/>
          </a:prstGeom>
        </p:spPr>
      </p:pic>
    </p:spTree>
    <p:extLst>
      <p:ext uri="{BB962C8B-B14F-4D97-AF65-F5344CB8AC3E}">
        <p14:creationId xmlns:p14="http://schemas.microsoft.com/office/powerpoint/2010/main" val="829311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pic>
        <p:nvPicPr>
          <p:cNvPr id="73" name="Google Shape;73;p16"/>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sp>
        <p:nvSpPr>
          <p:cNvPr id="74" name="Google Shape;74;p16"/>
          <p:cNvSpPr txBox="1"/>
          <p:nvPr/>
        </p:nvSpPr>
        <p:spPr>
          <a:xfrm>
            <a:off x="1865671" y="627892"/>
            <a:ext cx="81882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solidFill>
                  <a:schemeClr val="dk2"/>
                </a:solidFill>
              </a:rPr>
              <a:t>What positive and unique solutions your Idea have?</a:t>
            </a:r>
            <a:br>
              <a:rPr lang="en-GB" sz="1800" dirty="0">
                <a:solidFill>
                  <a:schemeClr val="dk2"/>
                </a:solidFill>
              </a:rPr>
            </a:br>
            <a:endParaRPr dirty="0">
              <a:solidFill>
                <a:schemeClr val="dk2"/>
              </a:solidFill>
            </a:endParaRPr>
          </a:p>
        </p:txBody>
      </p:sp>
      <p:sp>
        <p:nvSpPr>
          <p:cNvPr id="2" name="Google Shape;103;p19">
            <a:extLst>
              <a:ext uri="{FF2B5EF4-FFF2-40B4-BE49-F238E27FC236}">
                <a16:creationId xmlns:a16="http://schemas.microsoft.com/office/drawing/2014/main" id="{B4E31596-5660-2E66-B283-8E96DFB4846E}"/>
              </a:ext>
            </a:extLst>
          </p:cNvPr>
          <p:cNvSpPr txBox="1"/>
          <p:nvPr/>
        </p:nvSpPr>
        <p:spPr>
          <a:xfrm>
            <a:off x="92177" y="3618859"/>
            <a:ext cx="8959645" cy="1107965"/>
          </a:xfrm>
          <a:prstGeom prst="rect">
            <a:avLst/>
          </a:prstGeom>
          <a:noFill/>
          <a:ln>
            <a:noFill/>
          </a:ln>
        </p:spPr>
        <p:txBody>
          <a:bodyPr spcFirstLastPara="1" wrap="square" lIns="91425" tIns="91425" rIns="91425" bIns="91425" anchor="t" anchorCtr="0">
            <a:spAutoFit/>
          </a:bodyPr>
          <a:lstStyle/>
          <a:p>
            <a:pPr marL="133350" lvl="0" algn="l" rtl="0">
              <a:spcBef>
                <a:spcPts val="0"/>
              </a:spcBef>
              <a:spcAft>
                <a:spcPts val="0"/>
              </a:spcAft>
              <a:buClr>
                <a:schemeClr val="dk2"/>
              </a:buClr>
              <a:buSzPts val="1500"/>
            </a:pPr>
            <a:r>
              <a:rPr lang="en-US" sz="1500" dirty="0">
                <a:solidFill>
                  <a:schemeClr val="dk2"/>
                </a:solidFill>
              </a:rPr>
              <a:t>With Informatica’s Intelligent Data Management Cloud, all these services are available to natively on a cloud-first, microservices-based, API-driven platform that’s both elastic and serverless. CLAIRE, AI technology, is embedded in every service. Data can be brought from any source, of any type, to serve any user anywhere.</a:t>
            </a:r>
            <a:endParaRPr lang="en-GB" sz="1500" dirty="0">
              <a:solidFill>
                <a:schemeClr val="dk2"/>
              </a:solidFill>
            </a:endParaRPr>
          </a:p>
        </p:txBody>
      </p:sp>
      <p:pic>
        <p:nvPicPr>
          <p:cNvPr id="2050" name="Picture 2" descr="Introducing Intelligent Data Management Cloud | Informatica | Informatica">
            <a:extLst>
              <a:ext uri="{FF2B5EF4-FFF2-40B4-BE49-F238E27FC236}">
                <a16:creationId xmlns:a16="http://schemas.microsoft.com/office/drawing/2014/main" id="{64AC91FD-54ED-653B-21A5-A42CA877F8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83" y="1189114"/>
            <a:ext cx="8849032" cy="22030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sp>
        <p:nvSpPr>
          <p:cNvPr id="67" name="Google Shape;67;p15"/>
          <p:cNvSpPr txBox="1"/>
          <p:nvPr/>
        </p:nvSpPr>
        <p:spPr>
          <a:xfrm>
            <a:off x="197075" y="748850"/>
            <a:ext cx="8552700" cy="44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68" name="Google Shape;68;p15"/>
          <p:cNvSpPr txBox="1"/>
          <p:nvPr/>
        </p:nvSpPr>
        <p:spPr>
          <a:xfrm>
            <a:off x="67400" y="564026"/>
            <a:ext cx="81882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solidFill>
                  <a:schemeClr val="dk2"/>
                </a:solidFill>
              </a:rPr>
              <a:t>Project Architecture Informatica</a:t>
            </a:r>
            <a:endParaRPr sz="1800" dirty="0">
              <a:solidFill>
                <a:schemeClr val="dk2"/>
              </a:solidFill>
            </a:endParaRPr>
          </a:p>
        </p:txBody>
      </p:sp>
      <p:pic>
        <p:nvPicPr>
          <p:cNvPr id="3" name="Picture 2">
            <a:extLst>
              <a:ext uri="{FF2B5EF4-FFF2-40B4-BE49-F238E27FC236}">
                <a16:creationId xmlns:a16="http://schemas.microsoft.com/office/drawing/2014/main" id="{9C88F63A-3F1D-DBF9-F640-80EACC8E27E0}"/>
              </a:ext>
            </a:extLst>
          </p:cNvPr>
          <p:cNvPicPr>
            <a:picLocks noChangeAspect="1"/>
          </p:cNvPicPr>
          <p:nvPr/>
        </p:nvPicPr>
        <p:blipFill>
          <a:blip r:embed="rId4"/>
          <a:stretch>
            <a:fillRect/>
          </a:stretch>
        </p:blipFill>
        <p:spPr>
          <a:xfrm>
            <a:off x="475000" y="1005913"/>
            <a:ext cx="7848000" cy="3982175"/>
          </a:xfrm>
          <a:prstGeom prst="rect">
            <a:avLst/>
          </a:prstGeom>
        </p:spPr>
      </p:pic>
    </p:spTree>
    <p:extLst>
      <p:ext uri="{BB962C8B-B14F-4D97-AF65-F5344CB8AC3E}">
        <p14:creationId xmlns:p14="http://schemas.microsoft.com/office/powerpoint/2010/main" val="104520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pic>
        <p:nvPicPr>
          <p:cNvPr id="73" name="Google Shape;73;p16"/>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sp>
        <p:nvSpPr>
          <p:cNvPr id="2" name="Google Shape;103;p19">
            <a:extLst>
              <a:ext uri="{FF2B5EF4-FFF2-40B4-BE49-F238E27FC236}">
                <a16:creationId xmlns:a16="http://schemas.microsoft.com/office/drawing/2014/main" id="{B4E31596-5660-2E66-B283-8E96DFB4846E}"/>
              </a:ext>
            </a:extLst>
          </p:cNvPr>
          <p:cNvSpPr txBox="1"/>
          <p:nvPr/>
        </p:nvSpPr>
        <p:spPr>
          <a:xfrm>
            <a:off x="158400" y="714082"/>
            <a:ext cx="8985600" cy="4247286"/>
          </a:xfrm>
          <a:prstGeom prst="rect">
            <a:avLst/>
          </a:prstGeom>
          <a:noFill/>
          <a:ln>
            <a:noFill/>
          </a:ln>
        </p:spPr>
        <p:txBody>
          <a:bodyPr spcFirstLastPara="1" wrap="square" lIns="91425" tIns="91425" rIns="91425" bIns="91425" anchor="t" anchorCtr="0">
            <a:spAutoFit/>
          </a:bodyPr>
          <a:lstStyle/>
          <a:p>
            <a:pPr algn="l"/>
            <a:r>
              <a:rPr lang="en-US" sz="1100" b="0" i="0" dirty="0">
                <a:effectLst/>
                <a:latin typeface="+mn-lt"/>
              </a:rPr>
              <a:t>Creating a machine learning (ML) pipeline for training disease diagnosis data from Snowflake using Informatica </a:t>
            </a:r>
            <a:r>
              <a:rPr lang="en-US" sz="1100" dirty="0" err="1">
                <a:latin typeface="+mn-lt"/>
              </a:rPr>
              <a:t>INFACore</a:t>
            </a:r>
            <a:r>
              <a:rPr lang="en-US" sz="1100" b="0" i="0" dirty="0">
                <a:effectLst/>
                <a:latin typeface="+mn-lt"/>
              </a:rPr>
              <a:t> involves several steps. Here’s a high-level overview of the process:</a:t>
            </a:r>
          </a:p>
          <a:p>
            <a:pPr algn="l"/>
            <a:endParaRPr lang="en-US" sz="1100" b="0" i="0" dirty="0">
              <a:effectLst/>
              <a:latin typeface="+mn-lt"/>
            </a:endParaRPr>
          </a:p>
          <a:p>
            <a:pPr algn="l">
              <a:buFont typeface="+mj-lt"/>
              <a:buAutoNum type="arabicPeriod"/>
            </a:pPr>
            <a:r>
              <a:rPr lang="en-US" sz="1100" b="1" i="0" dirty="0">
                <a:effectLst/>
                <a:latin typeface="+mn-lt"/>
              </a:rPr>
              <a:t> Data Collection</a:t>
            </a:r>
            <a:r>
              <a:rPr lang="en-US" sz="1100" b="0" i="0" dirty="0">
                <a:effectLst/>
                <a:latin typeface="+mn-lt"/>
              </a:rPr>
              <a:t>: </a:t>
            </a:r>
            <a:r>
              <a:rPr lang="en-US" sz="1100" dirty="0">
                <a:latin typeface="+mn-lt"/>
              </a:rPr>
              <a:t>Open Source and readily available data is collected from </a:t>
            </a:r>
            <a:r>
              <a:rPr lang="en-US" sz="1100" b="0" i="0" dirty="0">
                <a:effectLst/>
                <a:latin typeface="+mn-lt"/>
              </a:rPr>
              <a:t>various sources. This primarily contains patients historical data on large scale of factors influencing a particular disease. The data is saved into CSV as </a:t>
            </a:r>
            <a:r>
              <a:rPr lang="en-US" sz="1100" b="1" i="0" dirty="0">
                <a:effectLst/>
                <a:latin typeface="+mn-lt"/>
              </a:rPr>
              <a:t>Flat files and ingested to Informatica Mass Ingestion.</a:t>
            </a:r>
            <a:endParaRPr lang="en-US" sz="1100" b="0" i="0" dirty="0">
              <a:effectLst/>
              <a:latin typeface="+mn-lt"/>
            </a:endParaRPr>
          </a:p>
          <a:p>
            <a:pPr algn="l">
              <a:buFont typeface="+mj-lt"/>
              <a:buAutoNum type="arabicPeriod"/>
            </a:pPr>
            <a:endParaRPr lang="en-US" sz="1100" b="0" i="0" dirty="0">
              <a:effectLst/>
              <a:latin typeface="+mn-lt"/>
            </a:endParaRPr>
          </a:p>
          <a:p>
            <a:pPr algn="l">
              <a:buFont typeface="+mj-lt"/>
              <a:buAutoNum type="arabicPeriod"/>
            </a:pPr>
            <a:r>
              <a:rPr lang="en-US" sz="1100" b="1" i="0" dirty="0">
                <a:effectLst/>
                <a:latin typeface="+mn-lt"/>
              </a:rPr>
              <a:t> Data Processing</a:t>
            </a:r>
            <a:r>
              <a:rPr lang="en-US" sz="1100" b="0" i="0" dirty="0">
                <a:effectLst/>
                <a:latin typeface="+mn-lt"/>
              </a:rPr>
              <a:t>: Clean and preprocess the data using Informatica’s, </a:t>
            </a:r>
            <a:r>
              <a:rPr lang="en-US" sz="1100" b="1" i="0" dirty="0">
                <a:effectLst/>
                <a:latin typeface="+mn-lt"/>
              </a:rPr>
              <a:t>Data Profiling, Data Quality </a:t>
            </a:r>
            <a:r>
              <a:rPr lang="en-US" sz="1100" b="0" i="0" dirty="0">
                <a:effectLst/>
                <a:latin typeface="+mn-lt"/>
              </a:rPr>
              <a:t>checks. This may involve </a:t>
            </a:r>
            <a:r>
              <a:rPr lang="en-US" sz="1100" b="1" i="0" dirty="0">
                <a:effectLst/>
                <a:latin typeface="+mn-lt"/>
              </a:rPr>
              <a:t>normalizing data, handling missing values, and creating features </a:t>
            </a:r>
            <a:r>
              <a:rPr lang="en-US" sz="1100" b="0" i="0" dirty="0">
                <a:effectLst/>
                <a:latin typeface="+mn-lt"/>
              </a:rPr>
              <a:t>that will be used for training the ML model.</a:t>
            </a:r>
          </a:p>
          <a:p>
            <a:pPr algn="l">
              <a:buFont typeface="+mj-lt"/>
              <a:buAutoNum type="arabicPeriod"/>
            </a:pPr>
            <a:endParaRPr lang="en-US" sz="1100" b="0" i="0" dirty="0">
              <a:effectLst/>
              <a:latin typeface="+mn-lt"/>
            </a:endParaRPr>
          </a:p>
          <a:p>
            <a:pPr algn="l">
              <a:buFont typeface="+mj-lt"/>
              <a:buAutoNum type="arabicPeriod"/>
            </a:pPr>
            <a:r>
              <a:rPr lang="en-US" sz="1100" b="1" i="0" dirty="0">
                <a:effectLst/>
                <a:latin typeface="+mn-lt"/>
              </a:rPr>
              <a:t> Data Loading</a:t>
            </a:r>
            <a:r>
              <a:rPr lang="en-US" sz="1100" b="0" i="0" dirty="0">
                <a:effectLst/>
                <a:latin typeface="+mn-lt"/>
              </a:rPr>
              <a:t>: Load the </a:t>
            </a:r>
            <a:r>
              <a:rPr lang="en-US" sz="1100" b="1" i="0" dirty="0">
                <a:effectLst/>
                <a:latin typeface="+mn-lt"/>
              </a:rPr>
              <a:t>processed data into Snowflake tables using Data Integration</a:t>
            </a:r>
            <a:r>
              <a:rPr lang="en-US" sz="1100" b="0" i="0" dirty="0">
                <a:effectLst/>
                <a:latin typeface="+mn-lt"/>
              </a:rPr>
              <a:t>. Ensure that the data is stored in an organized manner that’s conducive to analysis and model training.</a:t>
            </a:r>
          </a:p>
          <a:p>
            <a:pPr algn="l">
              <a:buFont typeface="+mj-lt"/>
              <a:buAutoNum type="arabicPeriod"/>
            </a:pPr>
            <a:endParaRPr lang="en-US" sz="1100" b="0" i="0" dirty="0">
              <a:effectLst/>
              <a:latin typeface="+mn-lt"/>
            </a:endParaRPr>
          </a:p>
          <a:p>
            <a:pPr>
              <a:buFont typeface="+mj-lt"/>
              <a:buAutoNum type="arabicPeriod"/>
            </a:pPr>
            <a:r>
              <a:rPr lang="en-US" sz="1100" b="1" i="0" dirty="0">
                <a:effectLst/>
                <a:latin typeface="+mn-lt"/>
              </a:rPr>
              <a:t> Model Training</a:t>
            </a:r>
            <a:r>
              <a:rPr lang="en-US" sz="1100" b="0" i="0" dirty="0">
                <a:effectLst/>
                <a:latin typeface="+mn-lt"/>
              </a:rPr>
              <a:t>: Utilize Informatica </a:t>
            </a:r>
            <a:r>
              <a:rPr lang="en-US" sz="1100" b="1" i="0" dirty="0" err="1">
                <a:effectLst/>
                <a:latin typeface="+mn-lt"/>
              </a:rPr>
              <a:t>INFACore</a:t>
            </a:r>
            <a:r>
              <a:rPr lang="en-US" sz="1100" b="0" i="0" dirty="0">
                <a:effectLst/>
                <a:latin typeface="+mn-lt"/>
              </a:rPr>
              <a:t> to </a:t>
            </a:r>
            <a:r>
              <a:rPr lang="en-US" sz="1100" b="1" dirty="0">
                <a:latin typeface="+mn-lt"/>
              </a:rPr>
              <a:t>read, write and use frequently available functions over pandas </a:t>
            </a:r>
            <a:r>
              <a:rPr lang="en-US" sz="1100" b="1" dirty="0" err="1">
                <a:latin typeface="+mn-lt"/>
              </a:rPr>
              <a:t>dataframes</a:t>
            </a:r>
            <a:r>
              <a:rPr lang="en-US" sz="1100" b="1" dirty="0">
                <a:latin typeface="+mn-lt"/>
              </a:rPr>
              <a:t> </a:t>
            </a:r>
            <a:r>
              <a:rPr lang="en-US" sz="1100" b="0" i="0" dirty="0">
                <a:effectLst/>
                <a:latin typeface="+mn-lt"/>
              </a:rPr>
              <a:t>for model training. Made u</a:t>
            </a:r>
            <a:r>
              <a:rPr lang="en-US" sz="1100" dirty="0">
                <a:latin typeface="+mn-lt"/>
              </a:rPr>
              <a:t>se of popular ML frameworks like scikit-learn, </a:t>
            </a:r>
            <a:r>
              <a:rPr lang="en-US" sz="1100" dirty="0" err="1">
                <a:latin typeface="+mn-lt"/>
              </a:rPr>
              <a:t>XGBoost</a:t>
            </a:r>
            <a:r>
              <a:rPr lang="en-US" sz="1100" dirty="0">
                <a:latin typeface="+mn-lt"/>
              </a:rPr>
              <a:t>, and </a:t>
            </a:r>
            <a:r>
              <a:rPr lang="en-US" sz="1100" dirty="0" err="1">
                <a:latin typeface="+mn-lt"/>
              </a:rPr>
              <a:t>LightGBM</a:t>
            </a:r>
            <a:r>
              <a:rPr lang="en-US" sz="1100" dirty="0">
                <a:latin typeface="+mn-lt"/>
              </a:rPr>
              <a:t> for training.</a:t>
            </a:r>
            <a:r>
              <a:rPr lang="en-US" sz="1100" b="1" dirty="0">
                <a:latin typeface="+mn-lt"/>
              </a:rPr>
              <a:t> </a:t>
            </a:r>
            <a:endParaRPr lang="en-US" sz="1100" b="0" i="0" dirty="0">
              <a:effectLst/>
              <a:latin typeface="+mn-lt"/>
            </a:endParaRPr>
          </a:p>
          <a:p>
            <a:pPr algn="l">
              <a:buFont typeface="+mj-lt"/>
              <a:buAutoNum type="arabicPeriod"/>
            </a:pPr>
            <a:endParaRPr lang="en-US" sz="1100" b="0" i="0" dirty="0">
              <a:effectLst/>
              <a:latin typeface="+mn-lt"/>
            </a:endParaRPr>
          </a:p>
          <a:p>
            <a:pPr algn="l">
              <a:buFont typeface="+mj-lt"/>
              <a:buAutoNum type="arabicPeriod"/>
            </a:pPr>
            <a:r>
              <a:rPr lang="en-US" sz="1100" b="1" i="0" dirty="0">
                <a:effectLst/>
                <a:latin typeface="+mn-lt"/>
              </a:rPr>
              <a:t> Model Deployment</a:t>
            </a:r>
            <a:r>
              <a:rPr lang="en-US" sz="1100" b="0" i="0" dirty="0">
                <a:effectLst/>
                <a:latin typeface="+mn-lt"/>
              </a:rPr>
              <a:t>: After training, </a:t>
            </a:r>
            <a:r>
              <a:rPr lang="en-US" sz="1100" b="1" i="0" dirty="0">
                <a:effectLst/>
                <a:latin typeface="+mn-lt"/>
              </a:rPr>
              <a:t>deploy your model using </a:t>
            </a:r>
            <a:r>
              <a:rPr lang="en-US" sz="1100" b="1" i="0" dirty="0" err="1">
                <a:effectLst/>
                <a:latin typeface="+mn-lt"/>
              </a:rPr>
              <a:t>ModelServe</a:t>
            </a:r>
            <a:r>
              <a:rPr lang="en-US" sz="1100" b="0" i="0" dirty="0">
                <a:effectLst/>
                <a:latin typeface="+mn-lt"/>
              </a:rPr>
              <a:t>. </a:t>
            </a:r>
            <a:r>
              <a:rPr lang="en-US" sz="1100" dirty="0">
                <a:latin typeface="+mn-lt"/>
              </a:rPr>
              <a:t>This includes managing models with </a:t>
            </a:r>
            <a:r>
              <a:rPr lang="en-US" sz="1100" b="1" dirty="0">
                <a:latin typeface="+mn-lt"/>
              </a:rPr>
              <a:t>Model Registry</a:t>
            </a:r>
            <a:r>
              <a:rPr lang="en-US" sz="1100" dirty="0">
                <a:latin typeface="+mn-lt"/>
              </a:rPr>
              <a:t>, which allows secure deployment and management of models in Informatica</a:t>
            </a:r>
            <a:r>
              <a:rPr lang="en-US" sz="1100" b="0" i="0" dirty="0">
                <a:effectLst/>
                <a:latin typeface="+mn-lt"/>
              </a:rPr>
              <a:t>.</a:t>
            </a:r>
          </a:p>
          <a:p>
            <a:pPr algn="l">
              <a:buFont typeface="+mj-lt"/>
              <a:buAutoNum type="arabicPeriod"/>
            </a:pPr>
            <a:endParaRPr lang="en-US" sz="1100" b="0" i="0" dirty="0">
              <a:effectLst/>
              <a:latin typeface="+mn-lt"/>
            </a:endParaRPr>
          </a:p>
          <a:p>
            <a:pPr algn="l">
              <a:buFont typeface="+mj-lt"/>
              <a:buAutoNum type="arabicPeriod"/>
            </a:pPr>
            <a:r>
              <a:rPr lang="en-US" sz="1100" b="1" i="0" dirty="0">
                <a:effectLst/>
                <a:latin typeface="+mn-lt"/>
              </a:rPr>
              <a:t> Model Inference</a:t>
            </a:r>
            <a:r>
              <a:rPr lang="en-US" sz="1100" b="0" i="0" dirty="0">
                <a:effectLst/>
                <a:latin typeface="+mn-lt"/>
              </a:rPr>
              <a:t>:</a:t>
            </a:r>
            <a:r>
              <a:rPr lang="en-US" sz="1100" dirty="0">
                <a:latin typeface="+mn-lt"/>
              </a:rPr>
              <a:t> </a:t>
            </a:r>
            <a:r>
              <a:rPr lang="en-US" sz="1100" b="1" dirty="0">
                <a:latin typeface="+mn-lt"/>
              </a:rPr>
              <a:t>Leverage the deployed model through </a:t>
            </a:r>
            <a:r>
              <a:rPr lang="en-US" sz="1100" b="1" dirty="0" err="1">
                <a:latin typeface="+mn-lt"/>
              </a:rPr>
              <a:t>ModelServe</a:t>
            </a:r>
            <a:r>
              <a:rPr lang="en-US" sz="1100" b="1" dirty="0">
                <a:latin typeface="+mn-lt"/>
              </a:rPr>
              <a:t> Deployment </a:t>
            </a:r>
            <a:r>
              <a:rPr lang="en-US" sz="1100" b="1" dirty="0" err="1">
                <a:latin typeface="+mn-lt"/>
              </a:rPr>
              <a:t>RestAPI</a:t>
            </a:r>
            <a:r>
              <a:rPr lang="en-US" sz="1100" b="0" i="0" dirty="0">
                <a:effectLst/>
                <a:latin typeface="+mn-lt"/>
              </a:rPr>
              <a:t>. This can be done by setting up a pipeline that automatically feeds new data to the model and retrieves predictions.</a:t>
            </a:r>
          </a:p>
          <a:p>
            <a:pPr algn="l">
              <a:buFont typeface="+mj-lt"/>
              <a:buAutoNum type="arabicPeriod"/>
            </a:pPr>
            <a:endParaRPr lang="en-US" sz="1100" b="0" i="0" dirty="0">
              <a:effectLst/>
              <a:latin typeface="+mn-lt"/>
            </a:endParaRPr>
          </a:p>
          <a:p>
            <a:pPr algn="l">
              <a:buFont typeface="+mj-lt"/>
              <a:buAutoNum type="arabicPeriod"/>
            </a:pPr>
            <a:r>
              <a:rPr lang="en-US" sz="1100" b="1" i="0" dirty="0">
                <a:effectLst/>
                <a:latin typeface="+mn-lt"/>
              </a:rPr>
              <a:t> Monitoring and Management</a:t>
            </a:r>
            <a:r>
              <a:rPr lang="en-US" sz="1100" b="0" i="0" dirty="0">
                <a:effectLst/>
                <a:latin typeface="+mn-lt"/>
              </a:rPr>
              <a:t>: Continuously </a:t>
            </a:r>
            <a:r>
              <a:rPr lang="en-US" sz="1100" b="1" i="0" dirty="0">
                <a:effectLst/>
                <a:latin typeface="+mn-lt"/>
              </a:rPr>
              <a:t>monitor the performance of your ML model and manage it </a:t>
            </a:r>
            <a:r>
              <a:rPr lang="en-US" sz="1100" b="1" dirty="0">
                <a:latin typeface="+mn-lt"/>
              </a:rPr>
              <a:t>privileges</a:t>
            </a:r>
            <a:r>
              <a:rPr lang="en-US" sz="1100" b="0" i="0" dirty="0">
                <a:effectLst/>
                <a:latin typeface="+mn-lt"/>
              </a:rPr>
              <a:t>. This includes updating the model with new data and retraining if necessary.</a:t>
            </a:r>
          </a:p>
        </p:txBody>
      </p:sp>
    </p:spTree>
    <p:extLst>
      <p:ext uri="{BB962C8B-B14F-4D97-AF65-F5344CB8AC3E}">
        <p14:creationId xmlns:p14="http://schemas.microsoft.com/office/powerpoint/2010/main" val="1912633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20"/>
          <p:cNvPicPr preferRelativeResize="0"/>
          <p:nvPr/>
        </p:nvPicPr>
        <p:blipFill rotWithShape="1">
          <a:blip r:embed="rId3">
            <a:alphaModFix/>
          </a:blip>
          <a:srcRect l="2741" t="4333" r="2741"/>
          <a:stretch/>
        </p:blipFill>
        <p:spPr>
          <a:xfrm>
            <a:off x="0" y="-49199"/>
            <a:ext cx="9144003" cy="5192699"/>
          </a:xfrm>
          <a:prstGeom prst="rect">
            <a:avLst/>
          </a:prstGeom>
          <a:noFill/>
          <a:ln>
            <a:noFill/>
          </a:ln>
        </p:spPr>
      </p:pic>
      <p:sp>
        <p:nvSpPr>
          <p:cNvPr id="8" name="Google Shape;82;p16">
            <a:extLst>
              <a:ext uri="{FF2B5EF4-FFF2-40B4-BE49-F238E27FC236}">
                <a16:creationId xmlns:a16="http://schemas.microsoft.com/office/drawing/2014/main" id="{9FEFA841-0100-D0D4-B416-809531765F37}"/>
              </a:ext>
            </a:extLst>
          </p:cNvPr>
          <p:cNvSpPr txBox="1"/>
          <p:nvPr/>
        </p:nvSpPr>
        <p:spPr>
          <a:xfrm>
            <a:off x="4861191" y="706025"/>
            <a:ext cx="4137616" cy="4580839"/>
          </a:xfrm>
          <a:prstGeom prst="rect">
            <a:avLst/>
          </a:prstGeom>
          <a:noFill/>
          <a:ln>
            <a:noFill/>
          </a:ln>
        </p:spPr>
        <p:txBody>
          <a:bodyPr spcFirstLastPara="1" wrap="square" lIns="91425" tIns="91425" rIns="91425" bIns="91425" anchor="t" anchorCtr="0">
            <a:spAutoFit/>
          </a:bodyPr>
          <a:lstStyle/>
          <a:p>
            <a:pPr>
              <a:lnSpc>
                <a:spcPct val="115000"/>
              </a:lnSpc>
            </a:pPr>
            <a:r>
              <a:rPr lang="en-GB" sz="1050" dirty="0">
                <a:effectLst/>
                <a:latin typeface="Arial" panose="020B0604020202020204" pitchFamily="34" charset="0"/>
                <a:ea typeface="Arial" panose="020B0604020202020204" pitchFamily="34" charset="0"/>
              </a:rPr>
              <a:t>Mass ingestion involves the systematic transfer and replication of substantial volumes of data, typically between different databases or repositories, to facilitate their utilisation or storage. To efficiently manage the ingestion or replication of extensive data sets between a relational database and a Hive or HDFS target.</a:t>
            </a:r>
          </a:p>
          <a:p>
            <a:pPr>
              <a:lnSpc>
                <a:spcPct val="115000"/>
              </a:lnSpc>
            </a:pPr>
            <a:endParaRPr lang="en-IN" sz="1050" dirty="0">
              <a:effectLst/>
              <a:latin typeface="Arial" panose="020B0604020202020204" pitchFamily="34" charset="0"/>
              <a:ea typeface="Arial" panose="020B0604020202020204" pitchFamily="34" charset="0"/>
            </a:endParaRPr>
          </a:p>
          <a:p>
            <a:pPr marL="457200">
              <a:lnSpc>
                <a:spcPct val="115000"/>
              </a:lnSpc>
            </a:pPr>
            <a:r>
              <a:rPr lang="en-GB" sz="1050" dirty="0">
                <a:effectLst/>
                <a:latin typeface="Arial" panose="020B0604020202020204" pitchFamily="34" charset="0"/>
                <a:ea typeface="Arial" panose="020B0604020202020204" pitchFamily="34" charset="0"/>
              </a:rPr>
              <a:t> </a:t>
            </a:r>
            <a:endParaRPr lang="en-IN" sz="1050" dirty="0">
              <a:effectLst/>
              <a:latin typeface="Arial" panose="020B0604020202020204" pitchFamily="34" charset="0"/>
              <a:ea typeface="Arial" panose="020B0604020202020204" pitchFamily="34" charset="0"/>
            </a:endParaRPr>
          </a:p>
          <a:p>
            <a:pPr marL="342900" lvl="0" indent="-342900">
              <a:lnSpc>
                <a:spcPct val="115000"/>
              </a:lnSpc>
              <a:buFont typeface="+mj-lt"/>
              <a:buAutoNum type="arabicPeriod"/>
            </a:pPr>
            <a:r>
              <a:rPr lang="en-GB" sz="900" u="none" strike="noStrike" dirty="0">
                <a:effectLst/>
                <a:latin typeface="Arial" panose="020B0604020202020204" pitchFamily="34" charset="0"/>
                <a:ea typeface="Arial" panose="020B0604020202020204" pitchFamily="34" charset="0"/>
              </a:rPr>
              <a:t>Here are the few bunch of csv data file for different health disease predictions which we load into the respective snowflake tables using flat file mass ingestion.</a:t>
            </a:r>
            <a:endParaRPr lang="en-IN" sz="900" dirty="0">
              <a:effectLst/>
              <a:latin typeface="Arial" panose="020B0604020202020204" pitchFamily="34" charset="0"/>
              <a:ea typeface="Arial" panose="020B0604020202020204" pitchFamily="34" charset="0"/>
            </a:endParaRPr>
          </a:p>
          <a:p>
            <a:pPr marL="342900" indent="-342900">
              <a:lnSpc>
                <a:spcPct val="115000"/>
              </a:lnSpc>
              <a:buFont typeface="+mj-lt"/>
              <a:buAutoNum type="arabicPeriod"/>
            </a:pPr>
            <a:r>
              <a:rPr lang="en-GB" sz="900" u="none" strike="noStrike" dirty="0">
                <a:effectLst/>
                <a:latin typeface="Arial" panose="020B0604020202020204" pitchFamily="34" charset="0"/>
                <a:ea typeface="Arial" panose="020B0604020202020204" pitchFamily="34" charset="0"/>
              </a:rPr>
              <a:t>Here’s we configure the  source connection pointing to the local directory of our target dataset </a:t>
            </a:r>
            <a:endParaRPr lang="en-IN" sz="9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mj-lt"/>
              <a:buAutoNum type="arabicPeriod"/>
            </a:pPr>
            <a:r>
              <a:rPr lang="en-GB" sz="900" u="none" strike="noStrike" dirty="0">
                <a:effectLst/>
                <a:latin typeface="Arial" panose="020B0604020202020204" pitchFamily="34" charset="0"/>
                <a:ea typeface="Arial" panose="020B0604020202020204" pitchFamily="34" charset="0"/>
              </a:rPr>
              <a:t>Here’s the target connection configuration which indicates the destination where the dataset will be finally loaded through mass ingestion and a snowflake object is being configured as the target destination</a:t>
            </a:r>
            <a:endParaRPr lang="en-IN" sz="900" u="none" strike="noStrike" dirty="0">
              <a:effectLst/>
              <a:latin typeface="Arial" panose="020B0604020202020204" pitchFamily="34" charset="0"/>
              <a:ea typeface="Arial" panose="020B0604020202020204" pitchFamily="34" charset="0"/>
            </a:endParaRPr>
          </a:p>
          <a:p>
            <a:pPr>
              <a:lnSpc>
                <a:spcPct val="115000"/>
              </a:lnSpc>
            </a:pPr>
            <a:r>
              <a:rPr lang="en-GB" sz="1000" dirty="0">
                <a:effectLst/>
                <a:latin typeface="Arial" panose="020B0604020202020204" pitchFamily="34" charset="0"/>
                <a:ea typeface="Arial" panose="020B0604020202020204" pitchFamily="34" charset="0"/>
              </a:rPr>
              <a:t> </a:t>
            </a:r>
            <a:endParaRPr lang="en-IN" sz="1000" dirty="0">
              <a:effectLst/>
              <a:latin typeface="Arial" panose="020B0604020202020204" pitchFamily="34" charset="0"/>
              <a:ea typeface="Arial" panose="020B0604020202020204" pitchFamily="34" charset="0"/>
            </a:endParaRPr>
          </a:p>
          <a:p>
            <a:pPr>
              <a:lnSpc>
                <a:spcPct val="115000"/>
              </a:lnSpc>
            </a:pPr>
            <a:r>
              <a:rPr lang="en-GB" sz="1000" dirty="0">
                <a:effectLst/>
                <a:latin typeface="Arial" panose="020B0604020202020204" pitchFamily="34" charset="0"/>
                <a:ea typeface="Arial" panose="020B0604020202020204" pitchFamily="34" charset="0"/>
              </a:rPr>
              <a:t>That’s how Informatica Mass Ingestion helps us to seamlessly integrate with the broader Informatica Intelligent Data Platform, allowing us to leverage additional capabilities such as data integration, data quality, metadata management, and master data management to enhance our data management processes once the data is reached to the configured target destination</a:t>
            </a:r>
            <a:endParaRPr lang="en-IN" sz="1000" dirty="0">
              <a:effectLst/>
              <a:latin typeface="Arial" panose="020B0604020202020204" pitchFamily="34" charset="0"/>
              <a:ea typeface="Arial" panose="020B0604020202020204" pitchFamily="34" charset="0"/>
            </a:endParaRPr>
          </a:p>
          <a:p>
            <a:pPr>
              <a:lnSpc>
                <a:spcPct val="115000"/>
              </a:lnSpc>
            </a:pPr>
            <a:endParaRPr lang="en-IN" sz="1000" dirty="0">
              <a:effectLst/>
              <a:latin typeface="Arial" panose="020B0604020202020204" pitchFamily="34" charset="0"/>
              <a:ea typeface="Arial" panose="020B0604020202020204" pitchFamily="34" charset="0"/>
            </a:endParaRPr>
          </a:p>
          <a:p>
            <a:pPr marL="139700" lvl="0" algn="l" rtl="0">
              <a:lnSpc>
                <a:spcPct val="200000"/>
              </a:lnSpc>
              <a:spcBef>
                <a:spcPts val="0"/>
              </a:spcBef>
              <a:spcAft>
                <a:spcPts val="0"/>
              </a:spcAft>
              <a:buSzPts val="1400"/>
            </a:pPr>
            <a:endParaRPr sz="800" dirty="0"/>
          </a:p>
        </p:txBody>
      </p:sp>
      <p:pic>
        <p:nvPicPr>
          <p:cNvPr id="4" name="Picture 3">
            <a:extLst>
              <a:ext uri="{FF2B5EF4-FFF2-40B4-BE49-F238E27FC236}">
                <a16:creationId xmlns:a16="http://schemas.microsoft.com/office/drawing/2014/main" id="{212EA2ED-60EE-2E4A-A664-A2EC3B02DD14}"/>
              </a:ext>
            </a:extLst>
          </p:cNvPr>
          <p:cNvPicPr>
            <a:picLocks noChangeAspect="1"/>
          </p:cNvPicPr>
          <p:nvPr/>
        </p:nvPicPr>
        <p:blipFill>
          <a:blip r:embed="rId4"/>
          <a:stretch>
            <a:fillRect/>
          </a:stretch>
        </p:blipFill>
        <p:spPr>
          <a:xfrm>
            <a:off x="145193" y="679866"/>
            <a:ext cx="1359607" cy="383120"/>
          </a:xfrm>
          <a:prstGeom prst="rect">
            <a:avLst/>
          </a:prstGeom>
        </p:spPr>
      </p:pic>
      <p:pic>
        <p:nvPicPr>
          <p:cNvPr id="7" name="Picture 6">
            <a:extLst>
              <a:ext uri="{FF2B5EF4-FFF2-40B4-BE49-F238E27FC236}">
                <a16:creationId xmlns:a16="http://schemas.microsoft.com/office/drawing/2014/main" id="{55C4E45D-AC4A-2510-59EE-7059644C0849}"/>
              </a:ext>
            </a:extLst>
          </p:cNvPr>
          <p:cNvPicPr>
            <a:picLocks noChangeAspect="1"/>
          </p:cNvPicPr>
          <p:nvPr/>
        </p:nvPicPr>
        <p:blipFill>
          <a:blip r:embed="rId5"/>
          <a:stretch>
            <a:fillRect/>
          </a:stretch>
        </p:blipFill>
        <p:spPr>
          <a:xfrm>
            <a:off x="87592" y="1291302"/>
            <a:ext cx="4686007" cy="3369901"/>
          </a:xfrm>
          <a:prstGeom prst="rect">
            <a:avLst/>
          </a:prstGeom>
        </p:spPr>
      </p:pic>
    </p:spTree>
    <p:extLst>
      <p:ext uri="{BB962C8B-B14F-4D97-AF65-F5344CB8AC3E}">
        <p14:creationId xmlns:p14="http://schemas.microsoft.com/office/powerpoint/2010/main" val="3877505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20"/>
          <p:cNvPicPr preferRelativeResize="0"/>
          <p:nvPr/>
        </p:nvPicPr>
        <p:blipFill rotWithShape="1">
          <a:blip r:embed="rId3">
            <a:alphaModFix/>
          </a:blip>
          <a:srcRect l="2741" t="4333" r="2741"/>
          <a:stretch/>
        </p:blipFill>
        <p:spPr>
          <a:xfrm>
            <a:off x="0" y="-49199"/>
            <a:ext cx="9144003" cy="5192699"/>
          </a:xfrm>
          <a:prstGeom prst="rect">
            <a:avLst/>
          </a:prstGeom>
          <a:noFill/>
          <a:ln>
            <a:noFill/>
          </a:ln>
        </p:spPr>
      </p:pic>
      <p:sp>
        <p:nvSpPr>
          <p:cNvPr id="8" name="Google Shape;82;p16">
            <a:extLst>
              <a:ext uri="{FF2B5EF4-FFF2-40B4-BE49-F238E27FC236}">
                <a16:creationId xmlns:a16="http://schemas.microsoft.com/office/drawing/2014/main" id="{9FEFA841-0100-D0D4-B416-809531765F37}"/>
              </a:ext>
            </a:extLst>
          </p:cNvPr>
          <p:cNvSpPr txBox="1"/>
          <p:nvPr/>
        </p:nvSpPr>
        <p:spPr>
          <a:xfrm>
            <a:off x="4861191" y="706025"/>
            <a:ext cx="4137616" cy="4031843"/>
          </a:xfrm>
          <a:prstGeom prst="rect">
            <a:avLst/>
          </a:prstGeom>
          <a:noFill/>
          <a:ln>
            <a:noFill/>
          </a:ln>
        </p:spPr>
        <p:txBody>
          <a:bodyPr spcFirstLastPara="1" wrap="square" lIns="91425" tIns="91425" rIns="91425" bIns="91425" anchor="t" anchorCtr="0">
            <a:spAutoFit/>
          </a:bodyPr>
          <a:lstStyle/>
          <a:p>
            <a:pPr rtl="0">
              <a:spcBef>
                <a:spcPts val="0"/>
              </a:spcBef>
              <a:spcAft>
                <a:spcPts val="0"/>
              </a:spcAft>
            </a:pPr>
            <a:r>
              <a:rPr lang="en-US" sz="1000" b="0" i="0" u="none" strike="noStrike" dirty="0">
                <a:solidFill>
                  <a:srgbClr val="000000"/>
                </a:solidFill>
                <a:effectLst/>
                <a:latin typeface="Arial" panose="020B0604020202020204" pitchFamily="34" charset="0"/>
              </a:rPr>
              <a:t>Data quality we maintain the accuracy, completeness, consistency, and reliability of data stored in sources and used for training AI Modls.</a:t>
            </a:r>
            <a:endParaRPr lang="en-US" sz="1000" b="0" dirty="0">
              <a:effectLst/>
            </a:endParaRPr>
          </a:p>
          <a:p>
            <a:pPr marL="171450" indent="-171450" rtl="0" fontAlgn="base">
              <a:spcBef>
                <a:spcPts val="0"/>
              </a:spcBef>
              <a:spcAft>
                <a:spcPts val="0"/>
              </a:spcAft>
              <a:buFont typeface="Wingdings" panose="05000000000000000000" pitchFamily="2" charset="2"/>
              <a:buChar char="ü"/>
            </a:pPr>
            <a:endParaRPr lang="en-US" sz="1000" b="0" dirty="0">
              <a:effectLst/>
            </a:endParaRPr>
          </a:p>
          <a:p>
            <a:pPr marL="171450" indent="-171450" rtl="0" fontAlgn="base">
              <a:spcBef>
                <a:spcPts val="0"/>
              </a:spcBef>
              <a:spcAft>
                <a:spcPts val="0"/>
              </a:spcAft>
              <a:buFont typeface="Wingdings" panose="05000000000000000000" pitchFamily="2" charset="2"/>
              <a:buChar char="ü"/>
            </a:pPr>
            <a:r>
              <a:rPr lang="en-US" sz="1000" b="0" i="0" u="none" strike="noStrike" dirty="0">
                <a:solidFill>
                  <a:srgbClr val="000000"/>
                </a:solidFill>
                <a:effectLst/>
                <a:latin typeface="Arial" panose="020B0604020202020204" pitchFamily="34" charset="0"/>
              </a:rPr>
              <a:t>Here the data that we got from the csv dataset of breast cancer predictions ,we applied few cleansing mechanism in order to enhance the quality of the desired data</a:t>
            </a:r>
          </a:p>
          <a:p>
            <a:pPr marL="171450" indent="-171450" rtl="0" fontAlgn="base">
              <a:spcBef>
                <a:spcPts val="0"/>
              </a:spcBef>
              <a:spcAft>
                <a:spcPts val="0"/>
              </a:spcAft>
              <a:buFont typeface="Wingdings" panose="05000000000000000000" pitchFamily="2" charset="2"/>
              <a:buChar char="ü"/>
            </a:pPr>
            <a:endParaRPr lang="en-US" sz="1000" dirty="0">
              <a:latin typeface="Arial" panose="020B0604020202020204" pitchFamily="34" charset="0"/>
            </a:endParaRPr>
          </a:p>
          <a:p>
            <a:pPr marL="171450" indent="-171450" fontAlgn="base">
              <a:buFont typeface="Wingdings" panose="05000000000000000000" pitchFamily="2" charset="2"/>
              <a:buChar char="ü"/>
            </a:pPr>
            <a:r>
              <a:rPr lang="en-US" sz="1000" b="0" i="0" u="none" strike="noStrike" dirty="0">
                <a:solidFill>
                  <a:srgbClr val="000000"/>
                </a:solidFill>
                <a:effectLst/>
                <a:latin typeface="Arial" panose="020B0604020202020204" pitchFamily="34" charset="0"/>
              </a:rPr>
              <a:t>We have applied one of the predefined rules which is removing spaces from our raw dataset, so that the string type values doesn’t added with any leading or trailing spaces</a:t>
            </a:r>
          </a:p>
          <a:p>
            <a:pPr marL="171450" indent="-171450" fontAlgn="base">
              <a:buFont typeface="Wingdings" panose="05000000000000000000" pitchFamily="2" charset="2"/>
              <a:buChar char="ü"/>
            </a:pPr>
            <a:endParaRPr lang="en-US" sz="1000" dirty="0">
              <a:latin typeface="Arial" panose="020B0604020202020204" pitchFamily="34" charset="0"/>
            </a:endParaRPr>
          </a:p>
          <a:p>
            <a:pPr marL="171450" indent="-171450" fontAlgn="base">
              <a:buFont typeface="Wingdings" panose="05000000000000000000" pitchFamily="2" charset="2"/>
              <a:buChar char="ü"/>
            </a:pPr>
            <a:r>
              <a:rPr lang="en-US" sz="1000" b="0" i="0" u="none" strike="noStrike" dirty="0">
                <a:solidFill>
                  <a:srgbClr val="000000"/>
                </a:solidFill>
                <a:effectLst/>
                <a:latin typeface="Arial" panose="020B0604020202020204" pitchFamily="34" charset="0"/>
              </a:rPr>
              <a:t>Here’s a sample </a:t>
            </a:r>
            <a:r>
              <a:rPr lang="en-US" sz="1000" b="0" i="0" u="none" strike="noStrike" dirty="0" err="1">
                <a:solidFill>
                  <a:srgbClr val="000000"/>
                </a:solidFill>
                <a:effectLst/>
                <a:latin typeface="Arial" panose="020B0604020202020204" pitchFamily="34" charset="0"/>
              </a:rPr>
              <a:t>test_data</a:t>
            </a:r>
            <a:r>
              <a:rPr lang="en-US" sz="1000" b="0" i="0" u="none" strike="noStrike" dirty="0">
                <a:solidFill>
                  <a:srgbClr val="000000"/>
                </a:solidFill>
                <a:effectLst/>
                <a:latin typeface="Arial" panose="020B0604020202020204" pitchFamily="34" charset="0"/>
              </a:rPr>
              <a:t> where we performed the above rule on to check if it produces the desired result</a:t>
            </a:r>
          </a:p>
          <a:p>
            <a:pPr marL="171450" indent="-171450" fontAlgn="base">
              <a:buFont typeface="Wingdings" panose="05000000000000000000" pitchFamily="2" charset="2"/>
              <a:buChar char="ü"/>
            </a:pPr>
            <a:endParaRPr lang="en-US" sz="1000" dirty="0">
              <a:latin typeface="Arial" panose="020B0604020202020204" pitchFamily="34" charset="0"/>
            </a:endParaRPr>
          </a:p>
          <a:p>
            <a:pPr marL="171450" indent="-171450" fontAlgn="base">
              <a:buFont typeface="Wingdings" panose="05000000000000000000" pitchFamily="2" charset="2"/>
              <a:buChar char="ü"/>
            </a:pPr>
            <a:r>
              <a:rPr lang="en-US" sz="1000" b="0" i="0" u="none" strike="noStrike" dirty="0">
                <a:solidFill>
                  <a:srgbClr val="000000"/>
                </a:solidFill>
                <a:effectLst/>
                <a:latin typeface="Arial" panose="020B0604020202020204" pitchFamily="34" charset="0"/>
              </a:rPr>
              <a:t>The below output shows how it cleanse the  input data and produces the expected result </a:t>
            </a:r>
          </a:p>
          <a:p>
            <a:pPr marL="171450" indent="-171450" fontAlgn="base">
              <a:buFont typeface="Wingdings" panose="05000000000000000000" pitchFamily="2" charset="2"/>
              <a:buChar char="ü"/>
            </a:pPr>
            <a:endParaRPr lang="en-US" sz="1000" dirty="0">
              <a:latin typeface="Arial" panose="020B0604020202020204" pitchFamily="34" charset="0"/>
            </a:endParaRPr>
          </a:p>
          <a:p>
            <a:pPr marL="171450" indent="-171450" fontAlgn="base">
              <a:buFont typeface="Wingdings" panose="05000000000000000000" pitchFamily="2" charset="2"/>
              <a:buChar char="ü"/>
            </a:pPr>
            <a:r>
              <a:rPr lang="en-US" sz="1000" b="0" i="0" u="none" strike="noStrike" dirty="0">
                <a:solidFill>
                  <a:srgbClr val="000000"/>
                </a:solidFill>
                <a:effectLst/>
                <a:latin typeface="Arial" panose="020B0604020202020204" pitchFamily="34" charset="0"/>
              </a:rPr>
              <a:t>Here we have standardized our data further using the dictionary where we specified the valid values of diagnosis column to M and B and whenever this column receives the data other than that it will simply standardize the data to the value set to the output column</a:t>
            </a:r>
          </a:p>
          <a:p>
            <a:pPr marL="171450" indent="-171450" fontAlgn="base">
              <a:buFont typeface="Wingdings" panose="05000000000000000000" pitchFamily="2" charset="2"/>
              <a:buChar char="ü"/>
            </a:pPr>
            <a:endParaRPr lang="en-US" sz="1000" dirty="0">
              <a:latin typeface="Arial" panose="020B0604020202020204" pitchFamily="34" charset="0"/>
            </a:endParaRPr>
          </a:p>
          <a:p>
            <a:pPr fontAlgn="base"/>
            <a:r>
              <a:rPr lang="en-US" sz="1000" b="0" i="0" u="none" strike="noStrike" dirty="0">
                <a:solidFill>
                  <a:srgbClr val="000000"/>
                </a:solidFill>
                <a:effectLst/>
                <a:latin typeface="Arial" panose="020B0604020202020204" pitchFamily="34" charset="0"/>
              </a:rPr>
              <a:t>That’s how data quality in Informatica encompasses a range of activities and capabilities aimed at improving the accuracy, completeness, and reliability of our </a:t>
            </a:r>
            <a:r>
              <a:rPr lang="en-US" sz="1000" b="0" i="0" u="none" strike="noStrike" dirty="0" err="1">
                <a:solidFill>
                  <a:srgbClr val="000000"/>
                </a:solidFill>
                <a:effectLst/>
                <a:latin typeface="Arial" panose="020B0604020202020204" pitchFamily="34" charset="0"/>
              </a:rPr>
              <a:t>raw_data</a:t>
            </a:r>
            <a:r>
              <a:rPr lang="en-US" sz="1000" b="0" i="0" u="none" strike="noStrike" dirty="0">
                <a:solidFill>
                  <a:srgbClr val="000000"/>
                </a:solidFill>
                <a:effectLst/>
                <a:latin typeface="Arial" panose="020B0604020202020204" pitchFamily="34" charset="0"/>
              </a:rPr>
              <a:t> set for different diseases.</a:t>
            </a:r>
            <a:endParaRPr lang="en-US" sz="1000" b="0" dirty="0">
              <a:effectLst/>
            </a:endParaRPr>
          </a:p>
        </p:txBody>
      </p:sp>
      <p:pic>
        <p:nvPicPr>
          <p:cNvPr id="3" name="Picture 2">
            <a:extLst>
              <a:ext uri="{FF2B5EF4-FFF2-40B4-BE49-F238E27FC236}">
                <a16:creationId xmlns:a16="http://schemas.microsoft.com/office/drawing/2014/main" id="{F0D1A611-782A-1045-4444-38B8CC9B2978}"/>
              </a:ext>
            </a:extLst>
          </p:cNvPr>
          <p:cNvPicPr>
            <a:picLocks noChangeAspect="1"/>
          </p:cNvPicPr>
          <p:nvPr/>
        </p:nvPicPr>
        <p:blipFill>
          <a:blip r:embed="rId4"/>
          <a:stretch>
            <a:fillRect/>
          </a:stretch>
        </p:blipFill>
        <p:spPr>
          <a:xfrm>
            <a:off x="143995" y="1301481"/>
            <a:ext cx="4572000" cy="1816422"/>
          </a:xfrm>
          <a:prstGeom prst="rect">
            <a:avLst/>
          </a:prstGeom>
        </p:spPr>
      </p:pic>
      <p:pic>
        <p:nvPicPr>
          <p:cNvPr id="6" name="Picture 5">
            <a:extLst>
              <a:ext uri="{FF2B5EF4-FFF2-40B4-BE49-F238E27FC236}">
                <a16:creationId xmlns:a16="http://schemas.microsoft.com/office/drawing/2014/main" id="{1FDECFAD-423E-27DF-6936-87348E90B1B0}"/>
              </a:ext>
            </a:extLst>
          </p:cNvPr>
          <p:cNvPicPr>
            <a:picLocks noChangeAspect="1"/>
          </p:cNvPicPr>
          <p:nvPr/>
        </p:nvPicPr>
        <p:blipFill>
          <a:blip r:embed="rId5"/>
          <a:stretch>
            <a:fillRect/>
          </a:stretch>
        </p:blipFill>
        <p:spPr>
          <a:xfrm>
            <a:off x="145196" y="3356399"/>
            <a:ext cx="4570799" cy="1319738"/>
          </a:xfrm>
          <a:prstGeom prst="rect">
            <a:avLst/>
          </a:prstGeom>
        </p:spPr>
      </p:pic>
      <p:pic>
        <p:nvPicPr>
          <p:cNvPr id="10" name="Picture 9">
            <a:extLst>
              <a:ext uri="{FF2B5EF4-FFF2-40B4-BE49-F238E27FC236}">
                <a16:creationId xmlns:a16="http://schemas.microsoft.com/office/drawing/2014/main" id="{224A8DAE-825F-1097-98EF-130DDC547493}"/>
              </a:ext>
            </a:extLst>
          </p:cNvPr>
          <p:cNvPicPr>
            <a:picLocks noChangeAspect="1"/>
          </p:cNvPicPr>
          <p:nvPr/>
        </p:nvPicPr>
        <p:blipFill>
          <a:blip r:embed="rId6"/>
          <a:stretch>
            <a:fillRect/>
          </a:stretch>
        </p:blipFill>
        <p:spPr>
          <a:xfrm>
            <a:off x="143995" y="706025"/>
            <a:ext cx="1271765" cy="362001"/>
          </a:xfrm>
          <a:prstGeom prst="rect">
            <a:avLst/>
          </a:prstGeom>
        </p:spPr>
      </p:pic>
    </p:spTree>
    <p:extLst>
      <p:ext uri="{BB962C8B-B14F-4D97-AF65-F5344CB8AC3E}">
        <p14:creationId xmlns:p14="http://schemas.microsoft.com/office/powerpoint/2010/main" val="853683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20"/>
          <p:cNvPicPr preferRelativeResize="0"/>
          <p:nvPr/>
        </p:nvPicPr>
        <p:blipFill rotWithShape="1">
          <a:blip r:embed="rId3">
            <a:alphaModFix/>
          </a:blip>
          <a:srcRect l="2741" t="4333" r="2741"/>
          <a:stretch/>
        </p:blipFill>
        <p:spPr>
          <a:xfrm>
            <a:off x="0" y="-49199"/>
            <a:ext cx="9144003" cy="5192699"/>
          </a:xfrm>
          <a:prstGeom prst="rect">
            <a:avLst/>
          </a:prstGeom>
          <a:noFill/>
          <a:ln>
            <a:noFill/>
          </a:ln>
        </p:spPr>
      </p:pic>
      <p:sp>
        <p:nvSpPr>
          <p:cNvPr id="8" name="Google Shape;82;p16">
            <a:extLst>
              <a:ext uri="{FF2B5EF4-FFF2-40B4-BE49-F238E27FC236}">
                <a16:creationId xmlns:a16="http://schemas.microsoft.com/office/drawing/2014/main" id="{9FEFA841-0100-D0D4-B416-809531765F37}"/>
              </a:ext>
            </a:extLst>
          </p:cNvPr>
          <p:cNvSpPr txBox="1"/>
          <p:nvPr/>
        </p:nvSpPr>
        <p:spPr>
          <a:xfrm>
            <a:off x="5025600" y="706025"/>
            <a:ext cx="3789342" cy="4001065"/>
          </a:xfrm>
          <a:prstGeom prst="rect">
            <a:avLst/>
          </a:prstGeom>
          <a:noFill/>
          <a:ln>
            <a:noFill/>
          </a:ln>
        </p:spPr>
        <p:txBody>
          <a:bodyPr spcFirstLastPara="1" wrap="square" lIns="91425" tIns="91425" rIns="91425" bIns="91425" anchor="t" anchorCtr="0">
            <a:spAutoFit/>
          </a:bodyPr>
          <a:lstStyle/>
          <a:p>
            <a:pPr marL="311150" lvl="0" indent="-171450" algn="l" rtl="0">
              <a:lnSpc>
                <a:spcPct val="200000"/>
              </a:lnSpc>
              <a:spcBef>
                <a:spcPts val="0"/>
              </a:spcBef>
              <a:spcAft>
                <a:spcPts val="0"/>
              </a:spcAft>
              <a:buSzPts val="1400"/>
              <a:buFont typeface="Arial" panose="020B0604020202020204" pitchFamily="34" charset="0"/>
              <a:buChar char="•"/>
            </a:pPr>
            <a:r>
              <a:rPr lang="en-IN" sz="900" dirty="0"/>
              <a:t>Data Profiling to assess the quality of data based on our requirements.</a:t>
            </a:r>
          </a:p>
          <a:p>
            <a:pPr marL="311150" lvl="0" indent="-171450" algn="l" rtl="0">
              <a:lnSpc>
                <a:spcPct val="200000"/>
              </a:lnSpc>
              <a:spcBef>
                <a:spcPts val="0"/>
              </a:spcBef>
              <a:spcAft>
                <a:spcPts val="0"/>
              </a:spcAft>
              <a:buSzPts val="1400"/>
              <a:buFont typeface="Arial" panose="020B0604020202020204" pitchFamily="34" charset="0"/>
              <a:buChar char="•"/>
            </a:pPr>
            <a:r>
              <a:rPr lang="en-IN" sz="900" dirty="0"/>
              <a:t>Analysing data to understand it’s content, structure and patterns.</a:t>
            </a:r>
          </a:p>
          <a:p>
            <a:pPr marL="311150" lvl="0" indent="-171450" algn="l" rtl="0">
              <a:lnSpc>
                <a:spcPct val="200000"/>
              </a:lnSpc>
              <a:spcBef>
                <a:spcPts val="0"/>
              </a:spcBef>
              <a:spcAft>
                <a:spcPts val="0"/>
              </a:spcAft>
              <a:buSzPts val="1400"/>
              <a:buFont typeface="Arial" panose="020B0604020202020204" pitchFamily="34" charset="0"/>
              <a:buChar char="•"/>
            </a:pPr>
            <a:r>
              <a:rPr lang="en-IN" sz="900" dirty="0"/>
              <a:t>Identify anomalies, inconsistencies, and potential issues in the data</a:t>
            </a:r>
          </a:p>
          <a:p>
            <a:pPr marL="139700" lvl="0" algn="l" rtl="0">
              <a:lnSpc>
                <a:spcPct val="200000"/>
              </a:lnSpc>
              <a:spcBef>
                <a:spcPts val="0"/>
              </a:spcBef>
              <a:spcAft>
                <a:spcPts val="0"/>
              </a:spcAft>
              <a:buSzPts val="1400"/>
            </a:pPr>
            <a:endParaRPr lang="en-IN" sz="1000" dirty="0"/>
          </a:p>
          <a:p>
            <a:pPr marL="171450" indent="-171450" algn="l">
              <a:buFont typeface="Wingdings" panose="05000000000000000000" pitchFamily="2" charset="2"/>
              <a:buChar char="ü"/>
            </a:pPr>
            <a:r>
              <a:rPr lang="en-US" sz="1000" b="1" i="0" dirty="0">
                <a:effectLst/>
                <a:latin typeface="SegoeUIVariable"/>
              </a:rPr>
              <a:t>Content Assessment</a:t>
            </a:r>
            <a:r>
              <a:rPr lang="en-US" sz="1000" b="0" i="0" dirty="0">
                <a:effectLst/>
                <a:latin typeface="SegoeUIVariable"/>
              </a:rPr>
              <a:t>:</a:t>
            </a:r>
          </a:p>
          <a:p>
            <a:pPr marL="171450" indent="-171450" algn="l">
              <a:buFont typeface="Wingdings" panose="05000000000000000000" pitchFamily="2" charset="2"/>
              <a:buChar char="ü"/>
            </a:pPr>
            <a:endParaRPr lang="en-US" sz="1000" b="0" i="0" dirty="0">
              <a:effectLst/>
              <a:latin typeface="SegoeUIVariable"/>
            </a:endParaRPr>
          </a:p>
          <a:p>
            <a:pPr marL="628650" indent="-171450">
              <a:buFont typeface="Wingdings" panose="05000000000000000000" pitchFamily="2" charset="2"/>
              <a:buChar char="Ø"/>
            </a:pPr>
            <a:r>
              <a:rPr lang="en-US" sz="900" b="0" i="0" dirty="0">
                <a:effectLst/>
                <a:latin typeface="SegoeUIVariable"/>
              </a:rPr>
              <a:t>Data profiling examined value frequencies, data types, and distribution.</a:t>
            </a:r>
          </a:p>
          <a:p>
            <a:pPr marL="628650" indent="-171450">
              <a:buFont typeface="Wingdings" panose="05000000000000000000" pitchFamily="2" charset="2"/>
              <a:buChar char="Ø"/>
            </a:pPr>
            <a:r>
              <a:rPr lang="en-US" sz="900" b="0" i="0" dirty="0">
                <a:effectLst/>
                <a:latin typeface="SegoeUIVariable"/>
              </a:rPr>
              <a:t>It helped us to understand what data exists, how often it occurs, and whether it aligns with our expectations.</a:t>
            </a:r>
          </a:p>
          <a:p>
            <a:pPr marL="628650" indent="-171450">
              <a:buFont typeface="Wingdings" panose="05000000000000000000" pitchFamily="2" charset="2"/>
              <a:buChar char="Ø"/>
            </a:pPr>
            <a:endParaRPr lang="en-US" sz="1000" b="0" i="0" dirty="0">
              <a:effectLst/>
              <a:latin typeface="SegoeUIVariable"/>
            </a:endParaRPr>
          </a:p>
          <a:p>
            <a:pPr marL="171450" indent="-171450" algn="l">
              <a:buFont typeface="Wingdings" panose="05000000000000000000" pitchFamily="2" charset="2"/>
              <a:buChar char="ü"/>
            </a:pPr>
            <a:r>
              <a:rPr lang="en-US" sz="1000" b="1" i="0" dirty="0">
                <a:effectLst/>
                <a:latin typeface="SegoeUIVariable"/>
              </a:rPr>
              <a:t>Structure Assessment</a:t>
            </a:r>
            <a:r>
              <a:rPr lang="en-US" sz="1000" b="0" i="0" dirty="0">
                <a:effectLst/>
                <a:latin typeface="SegoeUIVariable"/>
              </a:rPr>
              <a:t>:</a:t>
            </a:r>
          </a:p>
          <a:p>
            <a:pPr marL="171450" indent="-171450" algn="l">
              <a:buFont typeface="Wingdings" panose="05000000000000000000" pitchFamily="2" charset="2"/>
              <a:buChar char="ü"/>
            </a:pPr>
            <a:endParaRPr lang="en-US" sz="1000" b="0" i="0" dirty="0">
              <a:effectLst/>
              <a:latin typeface="SegoeUIVariable"/>
            </a:endParaRPr>
          </a:p>
          <a:p>
            <a:pPr marL="628650" lvl="1" indent="-171450" algn="l">
              <a:buFont typeface="Wingdings" panose="05000000000000000000" pitchFamily="2" charset="2"/>
              <a:buChar char="Ø"/>
            </a:pPr>
            <a:r>
              <a:rPr lang="en-US" sz="900" b="0" i="0" dirty="0">
                <a:effectLst/>
                <a:latin typeface="SegoeUIVariable"/>
              </a:rPr>
              <a:t>Data profiling identifies keys, functional dependencies, and relationships between data elements.</a:t>
            </a:r>
          </a:p>
          <a:p>
            <a:pPr marL="628650" lvl="1" indent="-171450" algn="l">
              <a:buFont typeface="Wingdings" panose="05000000000000000000" pitchFamily="2" charset="2"/>
              <a:buChar char="Ø"/>
            </a:pPr>
            <a:r>
              <a:rPr lang="en-US" sz="900" b="0" i="0" dirty="0">
                <a:effectLst/>
                <a:latin typeface="SegoeUIVariable"/>
              </a:rPr>
              <a:t>It ensures that data adheres to expected structures (e.g., primary keys, foreign keys).</a:t>
            </a:r>
          </a:p>
          <a:p>
            <a:pPr marL="139700" lvl="0" algn="l" rtl="0">
              <a:lnSpc>
                <a:spcPct val="200000"/>
              </a:lnSpc>
              <a:spcBef>
                <a:spcPts val="0"/>
              </a:spcBef>
              <a:spcAft>
                <a:spcPts val="0"/>
              </a:spcAft>
              <a:buSzPts val="1400"/>
            </a:pPr>
            <a:endParaRPr sz="800" dirty="0"/>
          </a:p>
        </p:txBody>
      </p:sp>
      <p:pic>
        <p:nvPicPr>
          <p:cNvPr id="3" name="Picture 2">
            <a:extLst>
              <a:ext uri="{FF2B5EF4-FFF2-40B4-BE49-F238E27FC236}">
                <a16:creationId xmlns:a16="http://schemas.microsoft.com/office/drawing/2014/main" id="{D1F37981-AE4A-E166-034F-719BA25B38B9}"/>
              </a:ext>
            </a:extLst>
          </p:cNvPr>
          <p:cNvPicPr>
            <a:picLocks noChangeAspect="1"/>
          </p:cNvPicPr>
          <p:nvPr/>
        </p:nvPicPr>
        <p:blipFill>
          <a:blip r:embed="rId4"/>
          <a:stretch>
            <a:fillRect/>
          </a:stretch>
        </p:blipFill>
        <p:spPr>
          <a:xfrm>
            <a:off x="145193" y="651963"/>
            <a:ext cx="1446007" cy="411023"/>
          </a:xfrm>
          <a:prstGeom prst="rect">
            <a:avLst/>
          </a:prstGeom>
        </p:spPr>
      </p:pic>
      <p:pic>
        <p:nvPicPr>
          <p:cNvPr id="6" name="Picture 5">
            <a:extLst>
              <a:ext uri="{FF2B5EF4-FFF2-40B4-BE49-F238E27FC236}">
                <a16:creationId xmlns:a16="http://schemas.microsoft.com/office/drawing/2014/main" id="{393DA522-6FC4-B4BE-1C34-C1E3F110E928}"/>
              </a:ext>
            </a:extLst>
          </p:cNvPr>
          <p:cNvPicPr>
            <a:picLocks noChangeAspect="1"/>
          </p:cNvPicPr>
          <p:nvPr/>
        </p:nvPicPr>
        <p:blipFill rotWithShape="1">
          <a:blip r:embed="rId5"/>
          <a:srcRect l="10708" t="6380" r="1181"/>
          <a:stretch/>
        </p:blipFill>
        <p:spPr>
          <a:xfrm>
            <a:off x="145193" y="1382443"/>
            <a:ext cx="4830007" cy="3441600"/>
          </a:xfrm>
          <a:prstGeom prst="rect">
            <a:avLst/>
          </a:prstGeom>
        </p:spPr>
      </p:pic>
    </p:spTree>
    <p:extLst>
      <p:ext uri="{BB962C8B-B14F-4D97-AF65-F5344CB8AC3E}">
        <p14:creationId xmlns:p14="http://schemas.microsoft.com/office/powerpoint/2010/main" val="474525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20"/>
          <p:cNvPicPr preferRelativeResize="0"/>
          <p:nvPr/>
        </p:nvPicPr>
        <p:blipFill rotWithShape="1">
          <a:blip r:embed="rId3">
            <a:alphaModFix/>
          </a:blip>
          <a:srcRect l="2741" t="4333" r="2741"/>
          <a:stretch/>
        </p:blipFill>
        <p:spPr>
          <a:xfrm>
            <a:off x="0" y="-49199"/>
            <a:ext cx="9144003" cy="5192699"/>
          </a:xfrm>
          <a:prstGeom prst="rect">
            <a:avLst/>
          </a:prstGeom>
          <a:noFill/>
          <a:ln>
            <a:noFill/>
          </a:ln>
        </p:spPr>
      </p:pic>
      <p:pic>
        <p:nvPicPr>
          <p:cNvPr id="5" name="Picture 4">
            <a:extLst>
              <a:ext uri="{FF2B5EF4-FFF2-40B4-BE49-F238E27FC236}">
                <a16:creationId xmlns:a16="http://schemas.microsoft.com/office/drawing/2014/main" id="{2EF783A9-55F7-1BC0-76F1-477C6887B092}"/>
              </a:ext>
            </a:extLst>
          </p:cNvPr>
          <p:cNvPicPr>
            <a:picLocks noChangeAspect="1"/>
          </p:cNvPicPr>
          <p:nvPr/>
        </p:nvPicPr>
        <p:blipFill>
          <a:blip r:embed="rId4"/>
          <a:stretch>
            <a:fillRect/>
          </a:stretch>
        </p:blipFill>
        <p:spPr>
          <a:xfrm>
            <a:off x="217193" y="1647075"/>
            <a:ext cx="5184000" cy="3059999"/>
          </a:xfrm>
          <a:prstGeom prst="rect">
            <a:avLst/>
          </a:prstGeom>
        </p:spPr>
      </p:pic>
      <p:pic>
        <p:nvPicPr>
          <p:cNvPr id="7" name="Picture 6">
            <a:extLst>
              <a:ext uri="{FF2B5EF4-FFF2-40B4-BE49-F238E27FC236}">
                <a16:creationId xmlns:a16="http://schemas.microsoft.com/office/drawing/2014/main" id="{E75E27E6-89EB-CC80-9A7E-EA2C6F20FD8F}"/>
              </a:ext>
            </a:extLst>
          </p:cNvPr>
          <p:cNvPicPr>
            <a:picLocks noChangeAspect="1"/>
          </p:cNvPicPr>
          <p:nvPr/>
        </p:nvPicPr>
        <p:blipFill>
          <a:blip r:embed="rId5"/>
          <a:stretch>
            <a:fillRect/>
          </a:stretch>
        </p:blipFill>
        <p:spPr>
          <a:xfrm>
            <a:off x="217193" y="686212"/>
            <a:ext cx="1683607" cy="488419"/>
          </a:xfrm>
          <a:prstGeom prst="rect">
            <a:avLst/>
          </a:prstGeom>
        </p:spPr>
      </p:pic>
      <p:sp>
        <p:nvSpPr>
          <p:cNvPr id="8" name="Google Shape;82;p16">
            <a:extLst>
              <a:ext uri="{FF2B5EF4-FFF2-40B4-BE49-F238E27FC236}">
                <a16:creationId xmlns:a16="http://schemas.microsoft.com/office/drawing/2014/main" id="{9FEFA841-0100-D0D4-B416-809531765F37}"/>
              </a:ext>
            </a:extLst>
          </p:cNvPr>
          <p:cNvSpPr txBox="1"/>
          <p:nvPr/>
        </p:nvSpPr>
        <p:spPr>
          <a:xfrm>
            <a:off x="5500800" y="1483625"/>
            <a:ext cx="3199450" cy="3508623"/>
          </a:xfrm>
          <a:prstGeom prst="rect">
            <a:avLst/>
          </a:prstGeom>
          <a:noFill/>
          <a:ln>
            <a:noFill/>
          </a:ln>
        </p:spPr>
        <p:txBody>
          <a:bodyPr spcFirstLastPara="1" wrap="square" lIns="91425" tIns="91425" rIns="91425" bIns="91425" anchor="t" anchorCtr="0">
            <a:spAutoFit/>
          </a:bodyPr>
          <a:lstStyle/>
          <a:p>
            <a:pPr marL="139700" lvl="0" algn="l" rtl="0">
              <a:lnSpc>
                <a:spcPct val="200000"/>
              </a:lnSpc>
              <a:spcBef>
                <a:spcPts val="0"/>
              </a:spcBef>
              <a:spcAft>
                <a:spcPts val="0"/>
              </a:spcAft>
              <a:buSzPts val="1400"/>
            </a:pPr>
            <a:r>
              <a:rPr lang="en-IN" sz="1000" dirty="0"/>
              <a:t>At Data Integration we have combined Data from Different Sources and streamlined it to upload it to Snowflake Data Warehouse.</a:t>
            </a:r>
          </a:p>
          <a:p>
            <a:pPr marL="139700" lvl="0" algn="l" rtl="0">
              <a:lnSpc>
                <a:spcPct val="200000"/>
              </a:lnSpc>
              <a:spcBef>
                <a:spcPts val="0"/>
              </a:spcBef>
              <a:spcAft>
                <a:spcPts val="0"/>
              </a:spcAft>
              <a:buSzPts val="1400"/>
            </a:pPr>
            <a:endParaRPr lang="en-IN" sz="1000" dirty="0"/>
          </a:p>
          <a:p>
            <a:pPr marL="311150" lvl="0" indent="-171450" algn="l" rtl="0">
              <a:lnSpc>
                <a:spcPct val="200000"/>
              </a:lnSpc>
              <a:spcBef>
                <a:spcPts val="0"/>
              </a:spcBef>
              <a:spcAft>
                <a:spcPts val="0"/>
              </a:spcAft>
              <a:buSzPts val="1400"/>
              <a:buFont typeface="Arial" panose="020B0604020202020204" pitchFamily="34" charset="0"/>
              <a:buChar char="•"/>
            </a:pPr>
            <a:r>
              <a:rPr lang="en-IN" sz="1000" b="1" dirty="0"/>
              <a:t>Joiner: </a:t>
            </a:r>
            <a:r>
              <a:rPr lang="en-IN" sz="1000" dirty="0"/>
              <a:t>joined data form different sources.</a:t>
            </a:r>
          </a:p>
          <a:p>
            <a:pPr marL="311150" lvl="0" indent="-171450" algn="l" rtl="0">
              <a:lnSpc>
                <a:spcPct val="200000"/>
              </a:lnSpc>
              <a:spcBef>
                <a:spcPts val="0"/>
              </a:spcBef>
              <a:spcAft>
                <a:spcPts val="0"/>
              </a:spcAft>
              <a:buSzPts val="1400"/>
              <a:buFont typeface="Arial" panose="020B0604020202020204" pitchFamily="34" charset="0"/>
              <a:buChar char="•"/>
            </a:pPr>
            <a:r>
              <a:rPr lang="en-IN" sz="1000" b="1" dirty="0"/>
              <a:t>Filter</a:t>
            </a:r>
            <a:r>
              <a:rPr lang="en-IN" sz="1000" dirty="0"/>
              <a:t>: Filter data from the sequence flow.</a:t>
            </a:r>
          </a:p>
          <a:p>
            <a:pPr marL="311150" lvl="0" indent="-171450" algn="l" rtl="0">
              <a:lnSpc>
                <a:spcPct val="200000"/>
              </a:lnSpc>
              <a:spcBef>
                <a:spcPts val="0"/>
              </a:spcBef>
              <a:spcAft>
                <a:spcPts val="0"/>
              </a:spcAft>
              <a:buSzPts val="1400"/>
              <a:buFont typeface="Arial" panose="020B0604020202020204" pitchFamily="34" charset="0"/>
              <a:buChar char="•"/>
            </a:pPr>
            <a:r>
              <a:rPr lang="en-IN" sz="1000" b="1" dirty="0"/>
              <a:t>Expressions</a:t>
            </a:r>
            <a:r>
              <a:rPr lang="en-IN" sz="1000" dirty="0"/>
              <a:t>: Performed calculation on individual rows of data.</a:t>
            </a:r>
          </a:p>
          <a:p>
            <a:pPr marL="311150" lvl="0" indent="-171450" algn="l" rtl="0">
              <a:lnSpc>
                <a:spcPct val="200000"/>
              </a:lnSpc>
              <a:spcBef>
                <a:spcPts val="0"/>
              </a:spcBef>
              <a:spcAft>
                <a:spcPts val="0"/>
              </a:spcAft>
              <a:buSzPts val="1400"/>
              <a:buFont typeface="Arial" panose="020B0604020202020204" pitchFamily="34" charset="0"/>
              <a:buChar char="•"/>
            </a:pPr>
            <a:r>
              <a:rPr lang="en-IN" sz="1000" b="1" dirty="0"/>
              <a:t>Aggregator</a:t>
            </a:r>
            <a:r>
              <a:rPr lang="en-IN" sz="1000" dirty="0"/>
              <a:t>: Performed aggregate on our data.</a:t>
            </a:r>
          </a:p>
          <a:p>
            <a:pPr marL="311150" lvl="0" indent="-171450" algn="l" rtl="0">
              <a:lnSpc>
                <a:spcPct val="200000"/>
              </a:lnSpc>
              <a:spcBef>
                <a:spcPts val="0"/>
              </a:spcBef>
              <a:spcAft>
                <a:spcPts val="0"/>
              </a:spcAft>
              <a:buSzPts val="1400"/>
              <a:buFont typeface="Arial" panose="020B0604020202020204" pitchFamily="34" charset="0"/>
              <a:buChar char="•"/>
            </a:pPr>
            <a:r>
              <a:rPr lang="en-IN" sz="1000" b="1" dirty="0"/>
              <a:t>Normalizer: </a:t>
            </a:r>
            <a:r>
              <a:rPr lang="en-IN" sz="1000" dirty="0"/>
              <a:t>normalised the data.</a:t>
            </a:r>
          </a:p>
          <a:p>
            <a:pPr marL="139700" lvl="0" algn="l" rtl="0">
              <a:lnSpc>
                <a:spcPct val="200000"/>
              </a:lnSpc>
              <a:spcBef>
                <a:spcPts val="0"/>
              </a:spcBef>
              <a:spcAft>
                <a:spcPts val="0"/>
              </a:spcAft>
              <a:buSzPts val="1400"/>
            </a:pPr>
            <a:endParaRPr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20"/>
          <p:cNvPicPr preferRelativeResize="0"/>
          <p:nvPr/>
        </p:nvPicPr>
        <p:blipFill rotWithShape="1">
          <a:blip r:embed="rId3">
            <a:alphaModFix/>
          </a:blip>
          <a:srcRect l="2741" t="4333" r="2741"/>
          <a:stretch/>
        </p:blipFill>
        <p:spPr>
          <a:xfrm>
            <a:off x="0" y="-49199"/>
            <a:ext cx="9144003" cy="5192699"/>
          </a:xfrm>
          <a:prstGeom prst="rect">
            <a:avLst/>
          </a:prstGeom>
          <a:noFill/>
          <a:ln>
            <a:noFill/>
          </a:ln>
        </p:spPr>
      </p:pic>
      <p:sp>
        <p:nvSpPr>
          <p:cNvPr id="8" name="Google Shape;82;p16">
            <a:extLst>
              <a:ext uri="{FF2B5EF4-FFF2-40B4-BE49-F238E27FC236}">
                <a16:creationId xmlns:a16="http://schemas.microsoft.com/office/drawing/2014/main" id="{9FEFA841-0100-D0D4-B416-809531765F37}"/>
              </a:ext>
            </a:extLst>
          </p:cNvPr>
          <p:cNvSpPr txBox="1"/>
          <p:nvPr/>
        </p:nvSpPr>
        <p:spPr>
          <a:xfrm>
            <a:off x="5798275" y="2330327"/>
            <a:ext cx="3199450" cy="2677626"/>
          </a:xfrm>
          <a:prstGeom prst="rect">
            <a:avLst/>
          </a:prstGeom>
          <a:noFill/>
          <a:ln>
            <a:noFill/>
          </a:ln>
        </p:spPr>
        <p:txBody>
          <a:bodyPr spcFirstLastPara="1" wrap="square" lIns="91425" tIns="91425" rIns="91425" bIns="91425" anchor="t" anchorCtr="0">
            <a:spAutoFit/>
          </a:bodyPr>
          <a:lstStyle/>
          <a:p>
            <a:pPr marL="285750" indent="-285750" rtl="0" fontAlgn="base">
              <a:spcBef>
                <a:spcPts val="0"/>
              </a:spcBef>
              <a:spcAft>
                <a:spcPts val="0"/>
              </a:spcAft>
              <a:buFont typeface="Wingdings" panose="05000000000000000000" pitchFamily="2" charset="2"/>
              <a:buChar char="ü"/>
            </a:pPr>
            <a:r>
              <a:rPr lang="en-US" sz="1200" b="0" i="0" u="none" strike="noStrike" dirty="0">
                <a:solidFill>
                  <a:srgbClr val="000000"/>
                </a:solidFill>
                <a:effectLst/>
                <a:highlight>
                  <a:srgbClr val="FFFFFF"/>
                </a:highlight>
                <a:latin typeface="Roboto" panose="02000000000000000000" pitchFamily="2" charset="0"/>
              </a:rPr>
              <a:t>First of all we configured a snowflake connection to our IDMC data platform by specifying the account Name, credentials, warehouse and runtime environment .</a:t>
            </a:r>
          </a:p>
          <a:p>
            <a:pPr marL="285750" indent="-285750" rtl="0" fontAlgn="base">
              <a:spcBef>
                <a:spcPts val="0"/>
              </a:spcBef>
              <a:spcAft>
                <a:spcPts val="0"/>
              </a:spcAft>
              <a:buFont typeface="Wingdings" panose="05000000000000000000" pitchFamily="2" charset="2"/>
              <a:buChar char="ü"/>
            </a:pPr>
            <a:endParaRPr lang="en-US" sz="1200" b="0" i="0" u="none" strike="noStrike" dirty="0">
              <a:solidFill>
                <a:srgbClr val="000000"/>
              </a:solidFill>
              <a:effectLst/>
              <a:highlight>
                <a:srgbClr val="FFFFFF"/>
              </a:highlight>
              <a:latin typeface="Roboto" panose="02000000000000000000" pitchFamily="2" charset="0"/>
            </a:endParaRPr>
          </a:p>
          <a:p>
            <a:pPr marL="285750" indent="-285750" fontAlgn="base">
              <a:buFont typeface="Wingdings" panose="05000000000000000000" pitchFamily="2" charset="2"/>
              <a:buChar char="ü"/>
            </a:pPr>
            <a:r>
              <a:rPr lang="en-US" sz="1200" b="0" i="0" u="none" strike="noStrike" dirty="0">
                <a:solidFill>
                  <a:srgbClr val="000000"/>
                </a:solidFill>
                <a:effectLst/>
                <a:highlight>
                  <a:srgbClr val="FFFFFF"/>
                </a:highlight>
                <a:latin typeface="Roboto" panose="02000000000000000000" pitchFamily="2" charset="0"/>
              </a:rPr>
              <a:t>Then  we created a mapping to read comma delimited csv files  from local, and write the results into the respective tables in Snowflake. This dataset for diabetes predictions is now loaded to its respective table in snowflake.</a:t>
            </a:r>
            <a:endParaRPr lang="en-US" sz="1200" b="0" i="0" u="none" strike="noStrike" dirty="0">
              <a:solidFill>
                <a:srgbClr val="000000"/>
              </a:solidFill>
              <a:effectLst/>
              <a:latin typeface="Roboto" panose="02000000000000000000" pitchFamily="2" charset="0"/>
            </a:endParaRPr>
          </a:p>
          <a:p>
            <a:pPr rtl="0" fontAlgn="base">
              <a:spcBef>
                <a:spcPts val="0"/>
              </a:spcBef>
              <a:spcAft>
                <a:spcPts val="0"/>
              </a:spcAft>
              <a:buFont typeface="+mj-lt"/>
              <a:buAutoNum type="arabicPeriod"/>
            </a:pPr>
            <a:endParaRPr lang="en-US" sz="1800" b="0" i="0" u="none" strike="noStrike" dirty="0">
              <a:solidFill>
                <a:srgbClr val="000000"/>
              </a:solidFill>
              <a:effectLst/>
              <a:latin typeface="Roboto" panose="02000000000000000000" pitchFamily="2" charset="0"/>
            </a:endParaRPr>
          </a:p>
        </p:txBody>
      </p:sp>
      <p:pic>
        <p:nvPicPr>
          <p:cNvPr id="1030" name="Picture 6">
            <a:extLst>
              <a:ext uri="{FF2B5EF4-FFF2-40B4-BE49-F238E27FC236}">
                <a16:creationId xmlns:a16="http://schemas.microsoft.com/office/drawing/2014/main" id="{D5AB701E-C1CD-405D-74BB-CFA7271C7F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786" y="792000"/>
            <a:ext cx="1984210" cy="4743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50E3C7B-4CF9-FC5F-D1B3-2BD9217E5D52}"/>
              </a:ext>
            </a:extLst>
          </p:cNvPr>
          <p:cNvPicPr>
            <a:picLocks noChangeAspect="1"/>
          </p:cNvPicPr>
          <p:nvPr/>
        </p:nvPicPr>
        <p:blipFill>
          <a:blip r:embed="rId5"/>
          <a:stretch>
            <a:fillRect/>
          </a:stretch>
        </p:blipFill>
        <p:spPr>
          <a:xfrm>
            <a:off x="146275" y="2107549"/>
            <a:ext cx="5652000" cy="2772679"/>
          </a:xfrm>
          <a:prstGeom prst="rect">
            <a:avLst/>
          </a:prstGeom>
        </p:spPr>
      </p:pic>
      <p:sp>
        <p:nvSpPr>
          <p:cNvPr id="6" name="TextBox 5">
            <a:extLst>
              <a:ext uri="{FF2B5EF4-FFF2-40B4-BE49-F238E27FC236}">
                <a16:creationId xmlns:a16="http://schemas.microsoft.com/office/drawing/2014/main" id="{837AC8E3-7167-3ED0-4897-B171A9246279}"/>
              </a:ext>
            </a:extLst>
          </p:cNvPr>
          <p:cNvSpPr txBox="1"/>
          <p:nvPr/>
        </p:nvSpPr>
        <p:spPr>
          <a:xfrm>
            <a:off x="146275" y="1363784"/>
            <a:ext cx="8913600" cy="646331"/>
          </a:xfrm>
          <a:prstGeom prst="rect">
            <a:avLst/>
          </a:prstGeom>
          <a:noFill/>
        </p:spPr>
        <p:txBody>
          <a:bodyPr wrap="square">
            <a:spAutoFit/>
          </a:bodyPr>
          <a:lstStyle/>
          <a:p>
            <a:r>
              <a:rPr lang="en-US" sz="1200" b="0" i="0" u="none" strike="noStrike" dirty="0">
                <a:solidFill>
                  <a:srgbClr val="000000"/>
                </a:solidFill>
                <a:effectLst/>
                <a:latin typeface="Arial" panose="020B0604020202020204" pitchFamily="34" charset="0"/>
              </a:rPr>
              <a:t>IDMC provides a Snowflake cloud Connector, which allows us to integrate Snowflake with IDMC workflows. We used this connector to extract, transform, and load (ETL) data </a:t>
            </a:r>
            <a:r>
              <a:rPr lang="en-US" sz="1200" b="0" i="0" u="none" strike="noStrike" dirty="0">
                <a:solidFill>
                  <a:srgbClr val="000000"/>
                </a:solidFill>
                <a:effectLst/>
                <a:highlight>
                  <a:srgbClr val="FFFFFF"/>
                </a:highlight>
                <a:latin typeface="Roboto" panose="02000000000000000000" pitchFamily="2" charset="0"/>
              </a:rPr>
              <a:t>IDMC to load source data from databases, applications, and data files in the cloud or on-premises into Snowflake.</a:t>
            </a:r>
            <a:endParaRPr lang="en-IN" sz="1200" dirty="0"/>
          </a:p>
        </p:txBody>
      </p:sp>
    </p:spTree>
    <p:extLst>
      <p:ext uri="{BB962C8B-B14F-4D97-AF65-F5344CB8AC3E}">
        <p14:creationId xmlns:p14="http://schemas.microsoft.com/office/powerpoint/2010/main" val="2704064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pic>
        <p:nvPicPr>
          <p:cNvPr id="1026" name="Picture 2" descr="image">
            <a:extLst>
              <a:ext uri="{FF2B5EF4-FFF2-40B4-BE49-F238E27FC236}">
                <a16:creationId xmlns:a16="http://schemas.microsoft.com/office/drawing/2014/main" id="{8540A8E3-50AA-B17B-632C-2E24CAE401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64" y="1125953"/>
            <a:ext cx="5715436" cy="392926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3318151-B092-5EC8-5BF4-ACEB4ACBA55B}"/>
              </a:ext>
            </a:extLst>
          </p:cNvPr>
          <p:cNvSpPr txBox="1"/>
          <p:nvPr/>
        </p:nvSpPr>
        <p:spPr>
          <a:xfrm>
            <a:off x="5829175" y="1659425"/>
            <a:ext cx="3252852" cy="2862322"/>
          </a:xfrm>
          <a:prstGeom prst="rect">
            <a:avLst/>
          </a:prstGeom>
          <a:noFill/>
        </p:spPr>
        <p:txBody>
          <a:bodyPr wrap="square" rtlCol="0">
            <a:spAutoFit/>
          </a:bodyPr>
          <a:lstStyle/>
          <a:p>
            <a:pPr marL="285750" indent="-285750" algn="l">
              <a:buFont typeface="Arial" panose="020B0604020202020204" pitchFamily="34" charset="0"/>
              <a:buChar char="•"/>
            </a:pPr>
            <a:r>
              <a:rPr lang="en-US" sz="1200" b="1" i="0" dirty="0" err="1">
                <a:solidFill>
                  <a:srgbClr val="000000"/>
                </a:solidFill>
                <a:effectLst/>
                <a:highlight>
                  <a:srgbClr val="FBFBFB"/>
                </a:highlight>
                <a:latin typeface="Roboto" panose="02000000000000000000" pitchFamily="2" charset="0"/>
              </a:rPr>
              <a:t>INFACore</a:t>
            </a:r>
            <a:r>
              <a:rPr lang="en-US" sz="1200" b="0" i="0" dirty="0">
                <a:solidFill>
                  <a:srgbClr val="000000"/>
                </a:solidFill>
                <a:effectLst/>
                <a:highlight>
                  <a:srgbClr val="FBFBFB"/>
                </a:highlight>
                <a:latin typeface="Roboto" panose="02000000000000000000" pitchFamily="2" charset="0"/>
              </a:rPr>
              <a:t> to access data from diverse data sources, explore data, apply functions, transform the data, and deliver quality data to your business.</a:t>
            </a:r>
          </a:p>
          <a:p>
            <a:pPr algn="l"/>
            <a:endParaRPr lang="en-US" sz="1200" b="0" i="0" dirty="0">
              <a:solidFill>
                <a:srgbClr val="000000"/>
              </a:solidFill>
              <a:effectLst/>
              <a:highlight>
                <a:srgbClr val="FBFBFB"/>
              </a:highlight>
              <a:latin typeface="Roboto" panose="02000000000000000000" pitchFamily="2" charset="0"/>
            </a:endParaRPr>
          </a:p>
          <a:p>
            <a:pPr marL="285750" indent="-285750" algn="l">
              <a:buFont typeface="Arial" panose="020B0604020202020204" pitchFamily="34" charset="0"/>
              <a:buChar char="•"/>
            </a:pPr>
            <a:r>
              <a:rPr lang="en-US" sz="1200" b="1" dirty="0" err="1">
                <a:highlight>
                  <a:srgbClr val="FBFBFB"/>
                </a:highlight>
                <a:latin typeface="Roboto" panose="02000000000000000000" pitchFamily="2" charset="0"/>
              </a:rPr>
              <a:t>INFACore</a:t>
            </a:r>
            <a:r>
              <a:rPr lang="en-US" sz="1200" b="1" dirty="0">
                <a:highlight>
                  <a:srgbClr val="FBFBFB"/>
                </a:highlight>
                <a:latin typeface="Roboto" panose="02000000000000000000" pitchFamily="2" charset="0"/>
              </a:rPr>
              <a:t> SDK </a:t>
            </a:r>
            <a:r>
              <a:rPr lang="en-US" sz="1200" dirty="0">
                <a:highlight>
                  <a:srgbClr val="FBFBFB"/>
                </a:highlight>
                <a:latin typeface="Roboto" panose="02000000000000000000" pitchFamily="2" charset="0"/>
              </a:rPr>
              <a:t>for Python.</a:t>
            </a:r>
          </a:p>
          <a:p>
            <a:pPr algn="l"/>
            <a:endParaRPr lang="en-US" sz="1200" dirty="0">
              <a:highlight>
                <a:srgbClr val="FBFBFB"/>
              </a:highlight>
              <a:latin typeface="Roboto" panose="02000000000000000000" pitchFamily="2" charset="0"/>
            </a:endParaRPr>
          </a:p>
          <a:p>
            <a:pPr marL="285750" indent="-285750" algn="l">
              <a:buFont typeface="Arial" panose="020B0604020202020204" pitchFamily="34" charset="0"/>
              <a:buChar char="•"/>
            </a:pPr>
            <a:r>
              <a:rPr lang="en-US" sz="1200" b="1" dirty="0" err="1">
                <a:highlight>
                  <a:srgbClr val="FBFBFB"/>
                </a:highlight>
                <a:latin typeface="Roboto" panose="02000000000000000000" pitchFamily="2" charset="0"/>
              </a:rPr>
              <a:t>JupyterLab</a:t>
            </a:r>
            <a:r>
              <a:rPr lang="en-US" sz="1200" dirty="0">
                <a:highlight>
                  <a:srgbClr val="FBFBFB"/>
                </a:highlight>
                <a:latin typeface="Roboto" panose="02000000000000000000" pitchFamily="2" charset="0"/>
              </a:rPr>
              <a:t> extension for </a:t>
            </a:r>
            <a:r>
              <a:rPr lang="en-US" sz="1200" b="1" dirty="0" err="1">
                <a:highlight>
                  <a:srgbClr val="FBFBFB"/>
                </a:highlight>
                <a:latin typeface="Roboto" panose="02000000000000000000" pitchFamily="2" charset="0"/>
              </a:rPr>
              <a:t>INFACore</a:t>
            </a:r>
            <a:r>
              <a:rPr lang="en-US" sz="1200" dirty="0">
                <a:highlight>
                  <a:srgbClr val="FBFBFB"/>
                </a:highlight>
                <a:latin typeface="Roboto" panose="02000000000000000000" pitchFamily="2" charset="0"/>
              </a:rPr>
              <a:t>.</a:t>
            </a:r>
          </a:p>
          <a:p>
            <a:pPr marL="285750" indent="-285750" algn="l">
              <a:buFont typeface="Arial" panose="020B0604020202020204" pitchFamily="34" charset="0"/>
              <a:buChar char="•"/>
            </a:pPr>
            <a:endParaRPr lang="en-US" sz="1200" dirty="0">
              <a:highlight>
                <a:srgbClr val="FBFBFB"/>
              </a:highlight>
              <a:latin typeface="Roboto" panose="02000000000000000000" pitchFamily="2" charset="0"/>
            </a:endParaRPr>
          </a:p>
          <a:p>
            <a:pPr marL="285750" indent="-285750" algn="l">
              <a:buFont typeface="Arial" panose="020B0604020202020204" pitchFamily="34" charset="0"/>
              <a:buChar char="•"/>
            </a:pPr>
            <a:r>
              <a:rPr lang="en-US" sz="1200" dirty="0">
                <a:highlight>
                  <a:srgbClr val="FBFBFB"/>
                </a:highlight>
                <a:latin typeface="Roboto" panose="02000000000000000000" pitchFamily="2" charset="0"/>
              </a:rPr>
              <a:t>Leveraging above tools to build machine learning models for different kinds of disease predictions by injecting data from flat files and saving transformations/predictions to Snowflake database. </a:t>
            </a:r>
            <a:endParaRPr lang="en-IN" sz="1200" dirty="0"/>
          </a:p>
        </p:txBody>
      </p:sp>
      <p:pic>
        <p:nvPicPr>
          <p:cNvPr id="6" name="Picture 5">
            <a:extLst>
              <a:ext uri="{FF2B5EF4-FFF2-40B4-BE49-F238E27FC236}">
                <a16:creationId xmlns:a16="http://schemas.microsoft.com/office/drawing/2014/main" id="{C785B721-F0DB-1378-8BCD-415D255E4B3E}"/>
              </a:ext>
            </a:extLst>
          </p:cNvPr>
          <p:cNvPicPr>
            <a:picLocks noChangeAspect="1"/>
          </p:cNvPicPr>
          <p:nvPr/>
        </p:nvPicPr>
        <p:blipFill>
          <a:blip r:embed="rId5"/>
          <a:stretch>
            <a:fillRect/>
          </a:stretch>
        </p:blipFill>
        <p:spPr>
          <a:xfrm>
            <a:off x="51764" y="659239"/>
            <a:ext cx="1359436" cy="3917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pic>
        <p:nvPicPr>
          <p:cNvPr id="3" name="Picture 2">
            <a:extLst>
              <a:ext uri="{FF2B5EF4-FFF2-40B4-BE49-F238E27FC236}">
                <a16:creationId xmlns:a16="http://schemas.microsoft.com/office/drawing/2014/main" id="{86E2AEA5-7686-EC85-EF5B-1EF162899362}"/>
              </a:ext>
            </a:extLst>
          </p:cNvPr>
          <p:cNvPicPr>
            <a:picLocks noChangeAspect="1"/>
          </p:cNvPicPr>
          <p:nvPr/>
        </p:nvPicPr>
        <p:blipFill>
          <a:blip r:embed="rId4"/>
          <a:stretch>
            <a:fillRect/>
          </a:stretch>
        </p:blipFill>
        <p:spPr>
          <a:xfrm>
            <a:off x="115142" y="1064260"/>
            <a:ext cx="8913716" cy="2575864"/>
          </a:xfrm>
          <a:prstGeom prst="rect">
            <a:avLst/>
          </a:prstGeom>
        </p:spPr>
      </p:pic>
      <p:sp>
        <p:nvSpPr>
          <p:cNvPr id="4" name="TextBox 3">
            <a:extLst>
              <a:ext uri="{FF2B5EF4-FFF2-40B4-BE49-F238E27FC236}">
                <a16:creationId xmlns:a16="http://schemas.microsoft.com/office/drawing/2014/main" id="{99FB40B0-4F2E-B672-32F9-DB16D3436F1D}"/>
              </a:ext>
            </a:extLst>
          </p:cNvPr>
          <p:cNvSpPr txBox="1"/>
          <p:nvPr/>
        </p:nvSpPr>
        <p:spPr>
          <a:xfrm>
            <a:off x="115142" y="3657600"/>
            <a:ext cx="8913716" cy="1384995"/>
          </a:xfrm>
          <a:prstGeom prst="rect">
            <a:avLst/>
          </a:prstGeom>
          <a:noFill/>
        </p:spPr>
        <p:txBody>
          <a:bodyPr wrap="square" rtlCol="0">
            <a:spAutoFit/>
          </a:bodyPr>
          <a:lstStyle/>
          <a:p>
            <a:pPr marL="285750" indent="-285750">
              <a:buFont typeface="Arial" panose="020B0604020202020204" pitchFamily="34" charset="0"/>
              <a:buChar char="•"/>
            </a:pPr>
            <a:r>
              <a:rPr lang="en-US" b="0" i="0" dirty="0">
                <a:solidFill>
                  <a:srgbClr val="000000"/>
                </a:solidFill>
                <a:effectLst/>
                <a:highlight>
                  <a:srgbClr val="FFFFFF"/>
                </a:highlight>
                <a:latin typeface="Roboto" panose="02000000000000000000" pitchFamily="2" charset="0"/>
              </a:rPr>
              <a:t>Simplifying </a:t>
            </a:r>
            <a:r>
              <a:rPr lang="en-US" b="0" i="0" dirty="0" err="1">
                <a:solidFill>
                  <a:srgbClr val="000000"/>
                </a:solidFill>
                <a:effectLst/>
                <a:highlight>
                  <a:srgbClr val="FFFFFF"/>
                </a:highlight>
                <a:latin typeface="Roboto" panose="02000000000000000000" pitchFamily="2" charset="0"/>
              </a:rPr>
              <a:t>MLOps</a:t>
            </a:r>
            <a:r>
              <a:rPr lang="en-US" b="0" i="0" dirty="0">
                <a:solidFill>
                  <a:srgbClr val="000000"/>
                </a:solidFill>
                <a:effectLst/>
                <a:highlight>
                  <a:srgbClr val="FFFFFF"/>
                </a:highlight>
                <a:latin typeface="Roboto" panose="02000000000000000000" pitchFamily="2" charset="0"/>
              </a:rPr>
              <a:t> with Informatica </a:t>
            </a:r>
            <a:r>
              <a:rPr lang="en-US" b="0" i="0" dirty="0" err="1">
                <a:solidFill>
                  <a:srgbClr val="000000"/>
                </a:solidFill>
                <a:effectLst/>
                <a:highlight>
                  <a:srgbClr val="FFFFFF"/>
                </a:highlight>
                <a:latin typeface="Roboto" panose="02000000000000000000" pitchFamily="2" charset="0"/>
              </a:rPr>
              <a:t>ModelServe</a:t>
            </a:r>
            <a:r>
              <a:rPr lang="en-US" b="0" i="0" dirty="0">
                <a:solidFill>
                  <a:srgbClr val="000000"/>
                </a:solidFill>
                <a:effectLst/>
                <a:highlight>
                  <a:srgbClr val="FFFFFF"/>
                </a:highlight>
                <a:latin typeface="Roboto" panose="02000000000000000000" pitchFamily="2" charset="0"/>
              </a:rPr>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Model Serve to deploy machine learning models and generate predictions based on historical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0" i="0" dirty="0">
                <a:solidFill>
                  <a:srgbClr val="000000"/>
                </a:solidFill>
                <a:effectLst/>
                <a:highlight>
                  <a:srgbClr val="FFFFFF"/>
                </a:highlight>
                <a:latin typeface="Roboto" panose="02000000000000000000" pitchFamily="2" charset="0"/>
              </a:rPr>
              <a:t>Monitor, alert and consume served AI/ML models in applications.</a:t>
            </a:r>
            <a:endParaRPr lang="en-US" dirty="0"/>
          </a:p>
          <a:p>
            <a:pPr marL="285750" indent="-285750">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34F5C0F4-39F2-119E-54CC-DAF128889459}"/>
              </a:ext>
            </a:extLst>
          </p:cNvPr>
          <p:cNvPicPr>
            <a:picLocks noChangeAspect="1"/>
          </p:cNvPicPr>
          <p:nvPr/>
        </p:nvPicPr>
        <p:blipFill>
          <a:blip r:embed="rId5"/>
          <a:stretch>
            <a:fillRect/>
          </a:stretch>
        </p:blipFill>
        <p:spPr>
          <a:xfrm>
            <a:off x="115142" y="633687"/>
            <a:ext cx="1317658" cy="375197"/>
          </a:xfrm>
          <a:prstGeom prst="rect">
            <a:avLst/>
          </a:prstGeom>
        </p:spPr>
      </p:pic>
    </p:spTree>
    <p:extLst>
      <p:ext uri="{BB962C8B-B14F-4D97-AF65-F5344CB8AC3E}">
        <p14:creationId xmlns:p14="http://schemas.microsoft.com/office/powerpoint/2010/main" val="2710329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20"/>
          <p:cNvPicPr preferRelativeResize="0"/>
          <p:nvPr/>
        </p:nvPicPr>
        <p:blipFill rotWithShape="1">
          <a:blip r:embed="rId3">
            <a:alphaModFix/>
          </a:blip>
          <a:srcRect l="2741" t="4333" r="2741"/>
          <a:stretch/>
        </p:blipFill>
        <p:spPr>
          <a:xfrm>
            <a:off x="0" y="-49199"/>
            <a:ext cx="9144003" cy="5192699"/>
          </a:xfrm>
          <a:prstGeom prst="rect">
            <a:avLst/>
          </a:prstGeom>
          <a:noFill/>
          <a:ln>
            <a:noFill/>
          </a:ln>
        </p:spPr>
      </p:pic>
      <p:sp>
        <p:nvSpPr>
          <p:cNvPr id="8" name="Google Shape;82;p16">
            <a:extLst>
              <a:ext uri="{FF2B5EF4-FFF2-40B4-BE49-F238E27FC236}">
                <a16:creationId xmlns:a16="http://schemas.microsoft.com/office/drawing/2014/main" id="{9FEFA841-0100-D0D4-B416-809531765F37}"/>
              </a:ext>
            </a:extLst>
          </p:cNvPr>
          <p:cNvSpPr txBox="1"/>
          <p:nvPr/>
        </p:nvSpPr>
        <p:spPr>
          <a:xfrm>
            <a:off x="4694400" y="1483625"/>
            <a:ext cx="4005850" cy="3262401"/>
          </a:xfrm>
          <a:prstGeom prst="rect">
            <a:avLst/>
          </a:prstGeom>
          <a:noFill/>
          <a:ln>
            <a:noFill/>
          </a:ln>
        </p:spPr>
        <p:txBody>
          <a:bodyPr spcFirstLastPara="1" wrap="square" lIns="91425" tIns="91425" rIns="91425" bIns="91425" anchor="t" anchorCtr="0">
            <a:spAutoFit/>
          </a:bodyPr>
          <a:lstStyle/>
          <a:p>
            <a:pPr marL="139700" lvl="0" algn="l" rtl="0">
              <a:lnSpc>
                <a:spcPct val="200000"/>
              </a:lnSpc>
              <a:spcBef>
                <a:spcPts val="0"/>
              </a:spcBef>
              <a:spcAft>
                <a:spcPts val="0"/>
              </a:spcAft>
              <a:buSzPts val="1400"/>
            </a:pPr>
            <a:r>
              <a:rPr lang="en-IN" sz="1000" dirty="0"/>
              <a:t>React App is calling Application Integration published API, to get the diet plans.</a:t>
            </a:r>
          </a:p>
          <a:p>
            <a:pPr marL="139700" lvl="0" algn="l" rtl="0">
              <a:lnSpc>
                <a:spcPct val="200000"/>
              </a:lnSpc>
              <a:spcBef>
                <a:spcPts val="0"/>
              </a:spcBef>
              <a:spcAft>
                <a:spcPts val="0"/>
              </a:spcAft>
              <a:buSzPts val="1400"/>
            </a:pPr>
            <a:endParaRPr lang="en-IN" sz="1000" b="1" dirty="0"/>
          </a:p>
          <a:p>
            <a:pPr marL="311150" lvl="0" indent="-171450" algn="l" rtl="0">
              <a:lnSpc>
                <a:spcPct val="200000"/>
              </a:lnSpc>
              <a:spcBef>
                <a:spcPts val="0"/>
              </a:spcBef>
              <a:spcAft>
                <a:spcPts val="0"/>
              </a:spcAft>
              <a:buSzPts val="1400"/>
              <a:buFont typeface="Arial" panose="020B0604020202020204" pitchFamily="34" charset="0"/>
              <a:buChar char="•"/>
            </a:pPr>
            <a:r>
              <a:rPr lang="en-IN" sz="1000" b="1" dirty="0"/>
              <a:t>Service Connector using Form</a:t>
            </a:r>
            <a:r>
              <a:rPr lang="en-IN" sz="1000" dirty="0"/>
              <a:t>: Connect to OpenAI Rest endpoint, sending age, weight and health condition and prompt template as to fetch the ChatGPT response with a Day wise Diet plan.</a:t>
            </a:r>
          </a:p>
          <a:p>
            <a:pPr marL="311150" lvl="0" indent="-171450" algn="l" rtl="0">
              <a:lnSpc>
                <a:spcPct val="200000"/>
              </a:lnSpc>
              <a:spcBef>
                <a:spcPts val="0"/>
              </a:spcBef>
              <a:spcAft>
                <a:spcPts val="0"/>
              </a:spcAft>
              <a:buSzPts val="1400"/>
              <a:buFont typeface="Arial" panose="020B0604020202020204" pitchFamily="34" charset="0"/>
              <a:buChar char="•"/>
            </a:pPr>
            <a:endParaRPr lang="en-IN" sz="1000" dirty="0"/>
          </a:p>
          <a:p>
            <a:pPr marL="311150" lvl="0" indent="-171450" algn="l" rtl="0">
              <a:lnSpc>
                <a:spcPct val="200000"/>
              </a:lnSpc>
              <a:spcBef>
                <a:spcPts val="0"/>
              </a:spcBef>
              <a:spcAft>
                <a:spcPts val="0"/>
              </a:spcAft>
              <a:buSzPts val="1400"/>
              <a:buFont typeface="Arial" panose="020B0604020202020204" pitchFamily="34" charset="0"/>
              <a:buChar char="•"/>
            </a:pPr>
            <a:r>
              <a:rPr lang="en-IN" sz="1000" b="1" dirty="0"/>
              <a:t>App Connection: </a:t>
            </a:r>
            <a:r>
              <a:rPr lang="en-IN" sz="1000" dirty="0"/>
              <a:t>perform actions to connect our process to  a service connector .</a:t>
            </a:r>
            <a:endParaRPr sz="1000" dirty="0"/>
          </a:p>
        </p:txBody>
      </p:sp>
      <p:pic>
        <p:nvPicPr>
          <p:cNvPr id="3" name="Picture 2">
            <a:extLst>
              <a:ext uri="{FF2B5EF4-FFF2-40B4-BE49-F238E27FC236}">
                <a16:creationId xmlns:a16="http://schemas.microsoft.com/office/drawing/2014/main" id="{3BFF8121-50C1-4320-CCCC-7C17D53C843B}"/>
              </a:ext>
            </a:extLst>
          </p:cNvPr>
          <p:cNvPicPr>
            <a:picLocks noChangeAspect="1"/>
          </p:cNvPicPr>
          <p:nvPr/>
        </p:nvPicPr>
        <p:blipFill>
          <a:blip r:embed="rId4"/>
          <a:stretch>
            <a:fillRect/>
          </a:stretch>
        </p:blipFill>
        <p:spPr>
          <a:xfrm>
            <a:off x="217193" y="681244"/>
            <a:ext cx="1698007" cy="495252"/>
          </a:xfrm>
          <a:prstGeom prst="rect">
            <a:avLst/>
          </a:prstGeom>
        </p:spPr>
      </p:pic>
      <p:pic>
        <p:nvPicPr>
          <p:cNvPr id="6" name="Picture 5">
            <a:extLst>
              <a:ext uri="{FF2B5EF4-FFF2-40B4-BE49-F238E27FC236}">
                <a16:creationId xmlns:a16="http://schemas.microsoft.com/office/drawing/2014/main" id="{6F028DEA-C56D-00D4-CBFD-20676877308A}"/>
              </a:ext>
            </a:extLst>
          </p:cNvPr>
          <p:cNvPicPr>
            <a:picLocks noChangeAspect="1"/>
          </p:cNvPicPr>
          <p:nvPr/>
        </p:nvPicPr>
        <p:blipFill rotWithShape="1">
          <a:blip r:embed="rId5"/>
          <a:srcRect l="18662" t="32418" r="47559" b="53895"/>
          <a:stretch/>
        </p:blipFill>
        <p:spPr>
          <a:xfrm>
            <a:off x="217192" y="1294939"/>
            <a:ext cx="4102807" cy="612000"/>
          </a:xfrm>
          <a:prstGeom prst="rect">
            <a:avLst/>
          </a:prstGeom>
        </p:spPr>
      </p:pic>
      <p:pic>
        <p:nvPicPr>
          <p:cNvPr id="10" name="Picture 9">
            <a:extLst>
              <a:ext uri="{FF2B5EF4-FFF2-40B4-BE49-F238E27FC236}">
                <a16:creationId xmlns:a16="http://schemas.microsoft.com/office/drawing/2014/main" id="{7CAD4934-D99A-05C5-6CA1-80132C1F5BA3}"/>
              </a:ext>
            </a:extLst>
          </p:cNvPr>
          <p:cNvPicPr>
            <a:picLocks noChangeAspect="1"/>
          </p:cNvPicPr>
          <p:nvPr/>
        </p:nvPicPr>
        <p:blipFill rotWithShape="1">
          <a:blip r:embed="rId6"/>
          <a:srcRect l="14095" t="8232" r="56850"/>
          <a:stretch/>
        </p:blipFill>
        <p:spPr>
          <a:xfrm>
            <a:off x="3186292" y="1888838"/>
            <a:ext cx="1724107" cy="2695448"/>
          </a:xfrm>
          <a:prstGeom prst="rect">
            <a:avLst/>
          </a:prstGeom>
        </p:spPr>
      </p:pic>
      <p:pic>
        <p:nvPicPr>
          <p:cNvPr id="12" name="Picture 11">
            <a:extLst>
              <a:ext uri="{FF2B5EF4-FFF2-40B4-BE49-F238E27FC236}">
                <a16:creationId xmlns:a16="http://schemas.microsoft.com/office/drawing/2014/main" id="{E6E1A16D-8DA6-4839-7A5B-B6CC2D92A9BD}"/>
              </a:ext>
            </a:extLst>
          </p:cNvPr>
          <p:cNvPicPr>
            <a:picLocks noChangeAspect="1"/>
          </p:cNvPicPr>
          <p:nvPr/>
        </p:nvPicPr>
        <p:blipFill rotWithShape="1">
          <a:blip r:embed="rId7"/>
          <a:srcRect r="47165"/>
          <a:stretch/>
        </p:blipFill>
        <p:spPr>
          <a:xfrm>
            <a:off x="913342" y="2030224"/>
            <a:ext cx="1359608" cy="1053824"/>
          </a:xfrm>
          <a:prstGeom prst="rect">
            <a:avLst/>
          </a:prstGeom>
        </p:spPr>
      </p:pic>
      <p:pic>
        <p:nvPicPr>
          <p:cNvPr id="14" name="Picture 13">
            <a:extLst>
              <a:ext uri="{FF2B5EF4-FFF2-40B4-BE49-F238E27FC236}">
                <a16:creationId xmlns:a16="http://schemas.microsoft.com/office/drawing/2014/main" id="{987E2487-F650-204A-7960-AEB3F59F0365}"/>
              </a:ext>
            </a:extLst>
          </p:cNvPr>
          <p:cNvPicPr>
            <a:picLocks noChangeAspect="1"/>
          </p:cNvPicPr>
          <p:nvPr/>
        </p:nvPicPr>
        <p:blipFill>
          <a:blip r:embed="rId8"/>
          <a:stretch>
            <a:fillRect/>
          </a:stretch>
        </p:blipFill>
        <p:spPr>
          <a:xfrm>
            <a:off x="257233" y="3236562"/>
            <a:ext cx="2671826" cy="1561714"/>
          </a:xfrm>
          <a:prstGeom prst="rect">
            <a:avLst/>
          </a:prstGeom>
        </p:spPr>
      </p:pic>
    </p:spTree>
    <p:extLst>
      <p:ext uri="{BB962C8B-B14F-4D97-AF65-F5344CB8AC3E}">
        <p14:creationId xmlns:p14="http://schemas.microsoft.com/office/powerpoint/2010/main" val="1752564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21"/>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sp>
        <p:nvSpPr>
          <p:cNvPr id="104" name="Google Shape;104;p21"/>
          <p:cNvSpPr txBox="1"/>
          <p:nvPr/>
        </p:nvSpPr>
        <p:spPr>
          <a:xfrm>
            <a:off x="167500" y="729150"/>
            <a:ext cx="81882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solidFill>
                  <a:schemeClr val="dk2"/>
                </a:solidFill>
              </a:rPr>
              <a:t>ML Diagnosis System</a:t>
            </a:r>
            <a:endParaRPr sz="1800" dirty="0">
              <a:solidFill>
                <a:schemeClr val="dk2"/>
              </a:solidFill>
            </a:endParaRPr>
          </a:p>
        </p:txBody>
      </p:sp>
      <p:sp>
        <p:nvSpPr>
          <p:cNvPr id="3" name="TextBox 2">
            <a:extLst>
              <a:ext uri="{FF2B5EF4-FFF2-40B4-BE49-F238E27FC236}">
                <a16:creationId xmlns:a16="http://schemas.microsoft.com/office/drawing/2014/main" id="{C167AB39-90E8-1DEE-8F98-69C2DC19D8BA}"/>
              </a:ext>
            </a:extLst>
          </p:cNvPr>
          <p:cNvSpPr txBox="1"/>
          <p:nvPr/>
        </p:nvSpPr>
        <p:spPr>
          <a:xfrm>
            <a:off x="117872" y="1340643"/>
            <a:ext cx="3273327" cy="830997"/>
          </a:xfrm>
          <a:prstGeom prst="rect">
            <a:avLst/>
          </a:prstGeom>
          <a:noFill/>
        </p:spPr>
        <p:txBody>
          <a:bodyPr wrap="square" rtlCol="0">
            <a:spAutoFit/>
          </a:bodyPr>
          <a:lstStyle/>
          <a:p>
            <a:pPr marL="0" lvl="0" indent="0" algn="l" rtl="0">
              <a:spcBef>
                <a:spcPts val="0"/>
              </a:spcBef>
              <a:spcAft>
                <a:spcPts val="0"/>
              </a:spcAft>
              <a:buNone/>
            </a:pPr>
            <a:r>
              <a:rPr lang="en-US" sz="1200" b="1" i="0" dirty="0">
                <a:solidFill>
                  <a:srgbClr val="1F2328"/>
                </a:solidFill>
                <a:effectLst/>
                <a:highlight>
                  <a:srgbClr val="FFFFFF"/>
                </a:highlight>
                <a:latin typeface="-apple-system"/>
              </a:rPr>
              <a:t>Hitaya</a:t>
            </a:r>
            <a:r>
              <a:rPr lang="en-US" sz="1200" b="0" i="0" dirty="0">
                <a:solidFill>
                  <a:srgbClr val="1F2328"/>
                </a:solidFill>
                <a:effectLst/>
                <a:highlight>
                  <a:srgbClr val="FFFFFF"/>
                </a:highlight>
                <a:latin typeface="-apple-system"/>
              </a:rPr>
              <a:t> is a one-stop solution, a medical diagnosis App that can allow users to upload medical data or x-ray scans, and the APP will predict whether a patient has any disease or not.</a:t>
            </a:r>
            <a:endParaRPr lang="en-US" sz="1200" dirty="0">
              <a:solidFill>
                <a:schemeClr val="dk2"/>
              </a:solidFill>
            </a:endParaRPr>
          </a:p>
        </p:txBody>
      </p:sp>
      <p:sp>
        <p:nvSpPr>
          <p:cNvPr id="4" name="AutoShape 2">
            <a:extLst>
              <a:ext uri="{FF2B5EF4-FFF2-40B4-BE49-F238E27FC236}">
                <a16:creationId xmlns:a16="http://schemas.microsoft.com/office/drawing/2014/main" id="{A0550EB1-DCF5-A015-8269-336F13C4708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a:extLst>
              <a:ext uri="{FF2B5EF4-FFF2-40B4-BE49-F238E27FC236}">
                <a16:creationId xmlns:a16="http://schemas.microsoft.com/office/drawing/2014/main" id="{53752D56-9289-EEBB-352C-50A3E30CF4C4}"/>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6" name="Picture 8">
            <a:extLst>
              <a:ext uri="{FF2B5EF4-FFF2-40B4-BE49-F238E27FC236}">
                <a16:creationId xmlns:a16="http://schemas.microsoft.com/office/drawing/2014/main" id="{5B7C809C-50A8-64E6-E132-403C6B9FEBD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139" r="27796" b="10947"/>
          <a:stretch/>
        </p:blipFill>
        <p:spPr bwMode="auto">
          <a:xfrm>
            <a:off x="3793790" y="663370"/>
            <a:ext cx="2393869" cy="241725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00AB8618-620F-E00C-39EC-A7E7EF59404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746" r="28189"/>
          <a:stretch/>
        </p:blipFill>
        <p:spPr bwMode="auto">
          <a:xfrm>
            <a:off x="6434377" y="2099621"/>
            <a:ext cx="2576917" cy="29128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EAC1137-3EB0-59CC-77BA-F58D3351A108}"/>
              </a:ext>
            </a:extLst>
          </p:cNvPr>
          <p:cNvPicPr>
            <a:picLocks noChangeAspect="1"/>
          </p:cNvPicPr>
          <p:nvPr/>
        </p:nvPicPr>
        <p:blipFill>
          <a:blip r:embed="rId6"/>
          <a:stretch>
            <a:fillRect/>
          </a:stretch>
        </p:blipFill>
        <p:spPr>
          <a:xfrm>
            <a:off x="3203614" y="3271897"/>
            <a:ext cx="3041572" cy="1656735"/>
          </a:xfrm>
          <a:prstGeom prst="rect">
            <a:avLst/>
          </a:prstGeom>
        </p:spPr>
      </p:pic>
      <p:sp>
        <p:nvSpPr>
          <p:cNvPr id="9" name="TextBox 8">
            <a:extLst>
              <a:ext uri="{FF2B5EF4-FFF2-40B4-BE49-F238E27FC236}">
                <a16:creationId xmlns:a16="http://schemas.microsoft.com/office/drawing/2014/main" id="{BAA4585C-BF5D-6BE8-6628-E6D8D63F0CC0}"/>
              </a:ext>
            </a:extLst>
          </p:cNvPr>
          <p:cNvSpPr txBox="1"/>
          <p:nvPr/>
        </p:nvSpPr>
        <p:spPr>
          <a:xfrm>
            <a:off x="197201" y="2655525"/>
            <a:ext cx="2576917" cy="1938992"/>
          </a:xfrm>
          <a:prstGeom prst="rect">
            <a:avLst/>
          </a:prstGeom>
          <a:noFill/>
        </p:spPr>
        <p:txBody>
          <a:bodyPr wrap="square">
            <a:spAutoFit/>
          </a:bodyPr>
          <a:lstStyle/>
          <a:p>
            <a:pPr algn="l"/>
            <a:r>
              <a:rPr lang="en-US" sz="1200" b="1" i="0" dirty="0">
                <a:solidFill>
                  <a:srgbClr val="1F2328"/>
                </a:solidFill>
                <a:effectLst/>
                <a:highlight>
                  <a:srgbClr val="FFFFFF"/>
                </a:highlight>
                <a:latin typeface="-apple-system"/>
              </a:rPr>
              <a:t>List of Diseases it can predict now</a:t>
            </a:r>
          </a:p>
          <a:p>
            <a:pPr algn="l"/>
            <a:endParaRPr lang="en-US" sz="1200" b="1" i="0" dirty="0">
              <a:solidFill>
                <a:srgbClr val="1F2328"/>
              </a:solidFill>
              <a:effectLst/>
              <a:highlight>
                <a:srgbClr val="FFFFFF"/>
              </a:highlight>
              <a:latin typeface="-apple-system"/>
            </a:endParaRPr>
          </a:p>
          <a:p>
            <a:pPr marL="285750" indent="-285750" algn="l">
              <a:buFont typeface="Arial" panose="020B0604020202020204" pitchFamily="34" charset="0"/>
              <a:buChar char="•"/>
            </a:pPr>
            <a:r>
              <a:rPr lang="en-US" sz="1200" b="0" i="0" dirty="0">
                <a:solidFill>
                  <a:srgbClr val="1F2328"/>
                </a:solidFill>
                <a:effectLst/>
                <a:highlight>
                  <a:srgbClr val="FFFFFF"/>
                </a:highlight>
                <a:latin typeface="-apple-system"/>
              </a:rPr>
              <a:t>Breast Cancer</a:t>
            </a:r>
          </a:p>
          <a:p>
            <a:pPr marL="285750" indent="-285750" algn="l">
              <a:buFont typeface="Arial" panose="020B0604020202020204" pitchFamily="34" charset="0"/>
              <a:buChar char="•"/>
            </a:pPr>
            <a:r>
              <a:rPr lang="en-US" sz="1200" b="0" i="0" dirty="0">
                <a:solidFill>
                  <a:srgbClr val="1F2328"/>
                </a:solidFill>
                <a:effectLst/>
                <a:highlight>
                  <a:srgbClr val="FFFFFF"/>
                </a:highlight>
                <a:latin typeface="-apple-system"/>
              </a:rPr>
              <a:t>Chronic Kidney Disease</a:t>
            </a:r>
          </a:p>
          <a:p>
            <a:pPr marL="285750" indent="-285750" algn="l">
              <a:buFont typeface="Arial" panose="020B0604020202020204" pitchFamily="34" charset="0"/>
              <a:buChar char="•"/>
            </a:pPr>
            <a:r>
              <a:rPr lang="en-US" sz="1200" b="0" i="0" dirty="0">
                <a:solidFill>
                  <a:srgbClr val="1F2328"/>
                </a:solidFill>
                <a:effectLst/>
                <a:highlight>
                  <a:srgbClr val="FFFFFF"/>
                </a:highlight>
                <a:latin typeface="-apple-system"/>
              </a:rPr>
              <a:t>Diabetics</a:t>
            </a:r>
          </a:p>
          <a:p>
            <a:pPr marL="285750" indent="-285750" algn="l">
              <a:buFont typeface="Arial" panose="020B0604020202020204" pitchFamily="34" charset="0"/>
              <a:buChar char="•"/>
            </a:pPr>
            <a:r>
              <a:rPr lang="en-US" sz="1200" b="0" i="0" dirty="0">
                <a:solidFill>
                  <a:srgbClr val="1F2328"/>
                </a:solidFill>
                <a:effectLst/>
                <a:highlight>
                  <a:srgbClr val="FFFFFF"/>
                </a:highlight>
                <a:latin typeface="-apple-system"/>
              </a:rPr>
              <a:t>Heart Disease</a:t>
            </a:r>
          </a:p>
          <a:p>
            <a:pPr marL="285750" indent="-285750" algn="l">
              <a:buFont typeface="Arial" panose="020B0604020202020204" pitchFamily="34" charset="0"/>
              <a:buChar char="•"/>
            </a:pPr>
            <a:r>
              <a:rPr lang="en-US" sz="1200" b="0" i="0" dirty="0">
                <a:solidFill>
                  <a:srgbClr val="1F2328"/>
                </a:solidFill>
                <a:effectLst/>
                <a:highlight>
                  <a:srgbClr val="FFFFFF"/>
                </a:highlight>
                <a:latin typeface="-apple-system"/>
              </a:rPr>
              <a:t>Liver Disease</a:t>
            </a:r>
          </a:p>
          <a:p>
            <a:pPr marL="285750" indent="-285750" algn="l">
              <a:buFont typeface="Arial" panose="020B0604020202020204" pitchFamily="34" charset="0"/>
              <a:buChar char="•"/>
            </a:pPr>
            <a:r>
              <a:rPr lang="en-US" sz="1200" b="0" i="0" dirty="0">
                <a:solidFill>
                  <a:srgbClr val="1F2328"/>
                </a:solidFill>
                <a:effectLst/>
                <a:highlight>
                  <a:srgbClr val="FFFFFF"/>
                </a:highlight>
                <a:latin typeface="-apple-system"/>
              </a:rPr>
              <a:t>Chest X-ray Scans</a:t>
            </a:r>
          </a:p>
          <a:p>
            <a:pPr marL="285750" indent="-285750" algn="l">
              <a:buFont typeface="Arial" panose="020B0604020202020204" pitchFamily="34" charset="0"/>
              <a:buChar char="•"/>
            </a:pPr>
            <a:r>
              <a:rPr lang="en-US" sz="1200" b="0" i="0" dirty="0">
                <a:solidFill>
                  <a:srgbClr val="1F2328"/>
                </a:solidFill>
                <a:effectLst/>
                <a:highlight>
                  <a:srgbClr val="FFFFFF"/>
                </a:highlight>
                <a:latin typeface="-apple-system"/>
              </a:rPr>
              <a:t>Skin Cancer</a:t>
            </a:r>
          </a:p>
          <a:p>
            <a:pPr marL="285750" indent="-285750" algn="l">
              <a:buFont typeface="Arial" panose="020B0604020202020204" pitchFamily="34" charset="0"/>
              <a:buChar char="•"/>
            </a:pPr>
            <a:r>
              <a:rPr lang="en-US" sz="1200" b="0" i="0" dirty="0">
                <a:solidFill>
                  <a:srgbClr val="1F2328"/>
                </a:solidFill>
                <a:effectLst/>
                <a:highlight>
                  <a:srgbClr val="FFFFFF"/>
                </a:highlight>
                <a:latin typeface="-apple-system"/>
              </a:rPr>
              <a:t>Pneumonia X-Ray</a:t>
            </a:r>
          </a:p>
        </p:txBody>
      </p:sp>
      <p:pic>
        <p:nvPicPr>
          <p:cNvPr id="11" name="Picture 10">
            <a:extLst>
              <a:ext uri="{FF2B5EF4-FFF2-40B4-BE49-F238E27FC236}">
                <a16:creationId xmlns:a16="http://schemas.microsoft.com/office/drawing/2014/main" id="{1B8A25F6-1506-6FA1-8B9C-8FAF946720E9}"/>
              </a:ext>
            </a:extLst>
          </p:cNvPr>
          <p:cNvPicPr>
            <a:picLocks noChangeAspect="1"/>
          </p:cNvPicPr>
          <p:nvPr/>
        </p:nvPicPr>
        <p:blipFill rotWithShape="1">
          <a:blip r:embed="rId7"/>
          <a:srcRect l="1529" t="8667" r="6909" b="46988"/>
          <a:stretch/>
        </p:blipFill>
        <p:spPr>
          <a:xfrm>
            <a:off x="6271409" y="638020"/>
            <a:ext cx="2576917" cy="1389601"/>
          </a:xfrm>
          <a:prstGeom prst="rect">
            <a:avLst/>
          </a:prstGeom>
        </p:spPr>
      </p:pic>
    </p:spTree>
    <p:extLst>
      <p:ext uri="{BB962C8B-B14F-4D97-AF65-F5344CB8AC3E}">
        <p14:creationId xmlns:p14="http://schemas.microsoft.com/office/powerpoint/2010/main" val="214530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21"/>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sp>
        <p:nvSpPr>
          <p:cNvPr id="104" name="Google Shape;104;p21"/>
          <p:cNvSpPr txBox="1"/>
          <p:nvPr/>
        </p:nvSpPr>
        <p:spPr>
          <a:xfrm>
            <a:off x="167500" y="729150"/>
            <a:ext cx="81882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solidFill>
                  <a:schemeClr val="dk2"/>
                </a:solidFill>
              </a:rPr>
              <a:t>Diet Plans</a:t>
            </a:r>
            <a:endParaRPr sz="1800" dirty="0">
              <a:solidFill>
                <a:schemeClr val="dk2"/>
              </a:solidFill>
            </a:endParaRPr>
          </a:p>
        </p:txBody>
      </p:sp>
      <p:pic>
        <p:nvPicPr>
          <p:cNvPr id="2" name="Picture 1">
            <a:extLst>
              <a:ext uri="{FF2B5EF4-FFF2-40B4-BE49-F238E27FC236}">
                <a16:creationId xmlns:a16="http://schemas.microsoft.com/office/drawing/2014/main" id="{35EDBF4B-FED4-ED99-49D9-933001C14A34}"/>
              </a:ext>
            </a:extLst>
          </p:cNvPr>
          <p:cNvPicPr>
            <a:picLocks noChangeAspect="1"/>
          </p:cNvPicPr>
          <p:nvPr/>
        </p:nvPicPr>
        <p:blipFill>
          <a:blip r:embed="rId4"/>
          <a:stretch>
            <a:fillRect/>
          </a:stretch>
        </p:blipFill>
        <p:spPr>
          <a:xfrm>
            <a:off x="4217854" y="1324800"/>
            <a:ext cx="4583070" cy="3291150"/>
          </a:xfrm>
          <a:prstGeom prst="rect">
            <a:avLst/>
          </a:prstGeom>
        </p:spPr>
      </p:pic>
      <p:sp>
        <p:nvSpPr>
          <p:cNvPr id="3" name="TextBox 2">
            <a:extLst>
              <a:ext uri="{FF2B5EF4-FFF2-40B4-BE49-F238E27FC236}">
                <a16:creationId xmlns:a16="http://schemas.microsoft.com/office/drawing/2014/main" id="{C167AB39-90E8-1DEE-8F98-69C2DC19D8BA}"/>
              </a:ext>
            </a:extLst>
          </p:cNvPr>
          <p:cNvSpPr txBox="1"/>
          <p:nvPr/>
        </p:nvSpPr>
        <p:spPr>
          <a:xfrm>
            <a:off x="167500" y="2257950"/>
            <a:ext cx="4029308" cy="1600438"/>
          </a:xfrm>
          <a:prstGeom prst="rect">
            <a:avLst/>
          </a:prstGeom>
          <a:noFill/>
        </p:spPr>
        <p:txBody>
          <a:bodyPr wrap="square" rtlCol="0">
            <a:spAutoFit/>
          </a:bodyPr>
          <a:lstStyle/>
          <a:p>
            <a:pPr marL="68580" lvl="0" algn="l" rtl="0">
              <a:spcBef>
                <a:spcPts val="0"/>
              </a:spcBef>
              <a:spcAft>
                <a:spcPts val="0"/>
              </a:spcAft>
              <a:buSzPct val="165789"/>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8580">
              <a:buSzPct val="165789"/>
            </a:pPr>
            <a:r>
              <a:rPr lang="en-IN" dirty="0">
                <a:latin typeface="Calibri" panose="020F0502020204030204" pitchFamily="34" charset="0"/>
                <a:ea typeface="Calibri" panose="020F0502020204030204" pitchFamily="34" charset="0"/>
                <a:cs typeface="Calibri" panose="020F0502020204030204" pitchFamily="34" charset="0"/>
              </a:rPr>
              <a:t>Use of </a:t>
            </a:r>
            <a:r>
              <a:rPr lang="en-IN" b="1" dirty="0" err="1">
                <a:latin typeface="Calibri" panose="020F0502020204030204" pitchFamily="34" charset="0"/>
                <a:ea typeface="Calibri" panose="020F0502020204030204" pitchFamily="34" charset="0"/>
                <a:cs typeface="Calibri" panose="020F0502020204030204" pitchFamily="34" charset="0"/>
              </a:rPr>
              <a:t>GenAI</a:t>
            </a:r>
            <a:r>
              <a:rPr lang="en-IN" b="1" dirty="0">
                <a:latin typeface="Calibri" panose="020F0502020204030204" pitchFamily="34" charset="0"/>
                <a:ea typeface="Calibri" panose="020F0502020204030204" pitchFamily="34" charset="0"/>
                <a:cs typeface="Calibri" panose="020F0502020204030204" pitchFamily="34" charset="0"/>
              </a:rPr>
              <a:t> </a:t>
            </a:r>
            <a:r>
              <a:rPr lang="en-IN" dirty="0">
                <a:latin typeface="Calibri" panose="020F0502020204030204" pitchFamily="34" charset="0"/>
                <a:ea typeface="Calibri" panose="020F0502020204030204" pitchFamily="34" charset="0"/>
                <a:cs typeface="Calibri" panose="020F0502020204030204" pitchFamily="34" charset="0"/>
              </a:rPr>
              <a:t>to generate health plans, diet tips, exercise routine customized according to user input received, as per user’s health report. </a:t>
            </a:r>
          </a:p>
          <a:p>
            <a:pPr marL="68580" lvl="0" algn="l" rtl="0">
              <a:spcBef>
                <a:spcPts val="0"/>
              </a:spcBef>
              <a:spcAft>
                <a:spcPts val="0"/>
              </a:spcAft>
              <a:buSzPct val="165789"/>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68580" lvl="0" algn="l" rtl="0">
              <a:spcBef>
                <a:spcPts val="0"/>
              </a:spcBef>
              <a:spcAft>
                <a:spcPts val="0"/>
              </a:spcAft>
              <a:buSzPct val="165789"/>
            </a:pPr>
            <a:endPar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21"/>
          <p:cNvPicPr preferRelativeResize="0"/>
          <p:nvPr/>
        </p:nvPicPr>
        <p:blipFill rotWithShape="1">
          <a:blip r:embed="rId3">
            <a:alphaModFix/>
          </a:blip>
          <a:srcRect l="2741" t="4333" r="2741"/>
          <a:stretch/>
        </p:blipFill>
        <p:spPr>
          <a:xfrm>
            <a:off x="0" y="-49200"/>
            <a:ext cx="9144003" cy="5192699"/>
          </a:xfrm>
          <a:prstGeom prst="rect">
            <a:avLst/>
          </a:prstGeom>
          <a:noFill/>
          <a:ln>
            <a:noFill/>
          </a:ln>
        </p:spPr>
      </p:pic>
      <p:sp>
        <p:nvSpPr>
          <p:cNvPr id="104" name="Google Shape;104;p21"/>
          <p:cNvSpPr txBox="1"/>
          <p:nvPr/>
        </p:nvSpPr>
        <p:spPr>
          <a:xfrm>
            <a:off x="167500" y="729150"/>
            <a:ext cx="81882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solidFill>
                  <a:schemeClr val="dk2"/>
                </a:solidFill>
              </a:rPr>
              <a:t>Resources</a:t>
            </a:r>
            <a:endParaRPr sz="1800" dirty="0">
              <a:solidFill>
                <a:schemeClr val="dk2"/>
              </a:solidFill>
            </a:endParaRPr>
          </a:p>
        </p:txBody>
      </p:sp>
      <p:pic>
        <p:nvPicPr>
          <p:cNvPr id="2050" name="Picture 2" descr="Youtube Logo Images – Browse 23,061 Stock Photos, Vectors, and Video |  Adobe Stock">
            <a:extLst>
              <a:ext uri="{FF2B5EF4-FFF2-40B4-BE49-F238E27FC236}">
                <a16:creationId xmlns:a16="http://schemas.microsoft.com/office/drawing/2014/main" id="{FEB18318-B016-FFE0-3FAC-6013C142E4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913" y="1296450"/>
            <a:ext cx="2061487" cy="164553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itHub Logos and Usage · GitHub">
            <a:extLst>
              <a:ext uri="{FF2B5EF4-FFF2-40B4-BE49-F238E27FC236}">
                <a16:creationId xmlns:a16="http://schemas.microsoft.com/office/drawing/2014/main" id="{20D57412-C00F-BD69-A5A9-4BC9C027B6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889" y="3475985"/>
            <a:ext cx="1133511" cy="11335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7B03624-83D3-D34E-690E-DDC1A4E8B5CF}"/>
              </a:ext>
            </a:extLst>
          </p:cNvPr>
          <p:cNvSpPr txBox="1"/>
          <p:nvPr/>
        </p:nvSpPr>
        <p:spPr>
          <a:xfrm>
            <a:off x="2390400" y="3888851"/>
            <a:ext cx="5486400" cy="400110"/>
          </a:xfrm>
          <a:prstGeom prst="rect">
            <a:avLst/>
          </a:prstGeom>
          <a:noFill/>
        </p:spPr>
        <p:txBody>
          <a:bodyPr wrap="square">
            <a:spAutoFit/>
          </a:bodyPr>
          <a:lstStyle/>
          <a:p>
            <a:r>
              <a:rPr lang="en-IN" sz="2000" dirty="0"/>
              <a:t>https://github.com/IntelegixLabs/Informatica</a:t>
            </a:r>
          </a:p>
        </p:txBody>
      </p:sp>
      <p:sp>
        <p:nvSpPr>
          <p:cNvPr id="7" name="TextBox 6">
            <a:extLst>
              <a:ext uri="{FF2B5EF4-FFF2-40B4-BE49-F238E27FC236}">
                <a16:creationId xmlns:a16="http://schemas.microsoft.com/office/drawing/2014/main" id="{F7DF2BBD-7F7F-ACD3-F6A5-8C9F661D6419}"/>
              </a:ext>
            </a:extLst>
          </p:cNvPr>
          <p:cNvSpPr txBox="1"/>
          <p:nvPr/>
        </p:nvSpPr>
        <p:spPr>
          <a:xfrm>
            <a:off x="2390400" y="1919161"/>
            <a:ext cx="6134400" cy="400110"/>
          </a:xfrm>
          <a:prstGeom prst="rect">
            <a:avLst/>
          </a:prstGeom>
          <a:noFill/>
        </p:spPr>
        <p:txBody>
          <a:bodyPr wrap="square">
            <a:spAutoFit/>
          </a:bodyPr>
          <a:lstStyle/>
          <a:p>
            <a:r>
              <a:rPr lang="en-IN" sz="2000" dirty="0"/>
              <a:t>https://www.youtube.com/watch?v=H3Yu-IWIo1E</a:t>
            </a:r>
          </a:p>
        </p:txBody>
      </p:sp>
    </p:spTree>
    <p:extLst>
      <p:ext uri="{BB962C8B-B14F-4D97-AF65-F5344CB8AC3E}">
        <p14:creationId xmlns:p14="http://schemas.microsoft.com/office/powerpoint/2010/main" val="2749871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22"/>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TotalTime>
  <Words>1549</Words>
  <Application>Microsoft Office PowerPoint</Application>
  <PresentationFormat>On-screen Show (16:9)</PresentationFormat>
  <Paragraphs>124</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-apple-system</vt:lpstr>
      <vt:lpstr>Arial</vt:lpstr>
      <vt:lpstr>Calibri</vt:lpstr>
      <vt:lpstr>Roboto</vt:lpstr>
      <vt:lpstr>SegoeUIVariable</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Arnab Das</cp:lastModifiedBy>
  <cp:revision>25</cp:revision>
  <dcterms:modified xsi:type="dcterms:W3CDTF">2024-04-09T21:52:12Z</dcterms:modified>
</cp:coreProperties>
</file>